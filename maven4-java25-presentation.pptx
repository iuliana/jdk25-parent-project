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9" r:id="rId4"/>
    <p:sldId id="260" r:id="rId5"/>
    <p:sldId id="278" r:id="rId6"/>
    <p:sldId id="272" r:id="rId7"/>
    <p:sldId id="277" r:id="rId8"/>
    <p:sldId id="262" r:id="rId9"/>
    <p:sldId id="264" r:id="rId10"/>
    <p:sldId id="265" r:id="rId11"/>
    <p:sldId id="266" r:id="rId12"/>
    <p:sldId id="268" r:id="rId13"/>
    <p:sldId id="267" r:id="rId14"/>
    <p:sldId id="263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99" r:id="rId24"/>
    <p:sldId id="287" r:id="rId25"/>
    <p:sldId id="288" r:id="rId26"/>
    <p:sldId id="261" r:id="rId27"/>
    <p:sldId id="275" r:id="rId28"/>
    <p:sldId id="289" r:id="rId29"/>
    <p:sldId id="294" r:id="rId30"/>
    <p:sldId id="290" r:id="rId31"/>
    <p:sldId id="291" r:id="rId32"/>
    <p:sldId id="292" r:id="rId33"/>
    <p:sldId id="293" r:id="rId34"/>
    <p:sldId id="295" r:id="rId35"/>
    <p:sldId id="296" r:id="rId36"/>
    <p:sldId id="297" r:id="rId37"/>
    <p:sldId id="298" r:id="rId38"/>
    <p:sldId id="270" r:id="rId39"/>
    <p:sldId id="276" r:id="rId40"/>
    <p:sldId id="271" r:id="rId41"/>
    <p:sldId id="273" r:id="rId42"/>
    <p:sldId id="27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89452"/>
  </p:normalViewPr>
  <p:slideViewPr>
    <p:cSldViewPr snapToGrid="0">
      <p:cViewPr varScale="1">
        <p:scale>
          <a:sx n="113" d="100"/>
          <a:sy n="113" d="100"/>
        </p:scale>
        <p:origin x="11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A079E-1994-4DF0-A8B6-C2B4D15A574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7E766A2-F583-48CF-BC4B-3A7A83EFC83D}">
      <dgm:prSet/>
      <dgm:spPr/>
      <dgm:t>
        <a:bodyPr/>
        <a:lstStyle/>
        <a:p>
          <a:r>
            <a:rPr lang="en-GB" dirty="0"/>
            <a:t>Maven 4 - what’s new</a:t>
          </a:r>
          <a:endParaRPr lang="en-US" dirty="0"/>
        </a:p>
      </dgm:t>
    </dgm:pt>
    <dgm:pt modelId="{FEF49C14-2E2D-4F20-B738-9244558C4DBE}" type="parTrans" cxnId="{9E55AD70-02FC-416E-A783-9170E1D57ECE}">
      <dgm:prSet/>
      <dgm:spPr/>
      <dgm:t>
        <a:bodyPr/>
        <a:lstStyle/>
        <a:p>
          <a:endParaRPr lang="en-US"/>
        </a:p>
      </dgm:t>
    </dgm:pt>
    <dgm:pt modelId="{F4ADF75A-0FB1-45F2-8E14-C41F4AE0D461}" type="sibTrans" cxnId="{9E55AD70-02FC-416E-A783-9170E1D57ECE}">
      <dgm:prSet/>
      <dgm:spPr/>
      <dgm:t>
        <a:bodyPr/>
        <a:lstStyle/>
        <a:p>
          <a:endParaRPr lang="en-US"/>
        </a:p>
      </dgm:t>
    </dgm:pt>
    <dgm:pt modelId="{F2D4FAA0-C344-44C7-9CBA-097B72D3C465}">
      <dgm:prSet/>
      <dgm:spPr/>
      <dgm:t>
        <a:bodyPr/>
        <a:lstStyle/>
        <a:p>
          <a:r>
            <a:rPr lang="en-GB" dirty="0"/>
            <a:t>Java 25 – what’s awesome</a:t>
          </a:r>
          <a:endParaRPr lang="en-US" dirty="0"/>
        </a:p>
      </dgm:t>
    </dgm:pt>
    <dgm:pt modelId="{E9C36E0D-9FAC-4345-8D90-5FB027ED14EA}" type="parTrans" cxnId="{DE88CA17-7403-45B9-A1C0-DC37336BDF30}">
      <dgm:prSet/>
      <dgm:spPr/>
      <dgm:t>
        <a:bodyPr/>
        <a:lstStyle/>
        <a:p>
          <a:endParaRPr lang="en-US"/>
        </a:p>
      </dgm:t>
    </dgm:pt>
    <dgm:pt modelId="{CD9427D5-C7C2-442B-9995-66E61A521945}" type="sibTrans" cxnId="{DE88CA17-7403-45B9-A1C0-DC37336BDF30}">
      <dgm:prSet/>
      <dgm:spPr/>
      <dgm:t>
        <a:bodyPr/>
        <a:lstStyle/>
        <a:p>
          <a:endParaRPr lang="en-US"/>
        </a:p>
      </dgm:t>
    </dgm:pt>
    <dgm:pt modelId="{B6D7D568-D78F-475D-9078-23A9FA383D9B}">
      <dgm:prSet/>
      <dgm:spPr/>
      <dgm:t>
        <a:bodyPr/>
        <a:lstStyle/>
        <a:p>
          <a:r>
            <a:rPr lang="en-GB" dirty="0"/>
            <a:t>Spring 7 – what’s cool</a:t>
          </a:r>
          <a:endParaRPr lang="en-US" dirty="0"/>
        </a:p>
      </dgm:t>
    </dgm:pt>
    <dgm:pt modelId="{E8E89F03-D199-4198-81CE-1402B91655CF}" type="parTrans" cxnId="{54278132-CE42-4375-91B2-1CC834C608EC}">
      <dgm:prSet/>
      <dgm:spPr/>
      <dgm:t>
        <a:bodyPr/>
        <a:lstStyle/>
        <a:p>
          <a:endParaRPr lang="en-US"/>
        </a:p>
      </dgm:t>
    </dgm:pt>
    <dgm:pt modelId="{534A3B36-0AEC-44A0-B1F0-D07EE60E656F}" type="sibTrans" cxnId="{54278132-CE42-4375-91B2-1CC834C608EC}">
      <dgm:prSet/>
      <dgm:spPr/>
      <dgm:t>
        <a:bodyPr/>
        <a:lstStyle/>
        <a:p>
          <a:endParaRPr lang="en-US"/>
        </a:p>
      </dgm:t>
    </dgm:pt>
    <dgm:pt modelId="{461FD8F8-F35A-3346-A7C3-B0446150162D}" type="pres">
      <dgm:prSet presAssocID="{C6FA079E-1994-4DF0-A8B6-C2B4D15A5745}" presName="outerComposite" presStyleCnt="0">
        <dgm:presLayoutVars>
          <dgm:chMax val="5"/>
          <dgm:dir/>
          <dgm:resizeHandles val="exact"/>
        </dgm:presLayoutVars>
      </dgm:prSet>
      <dgm:spPr/>
    </dgm:pt>
    <dgm:pt modelId="{082A485B-703D-904B-9C15-AA360FEE73EF}" type="pres">
      <dgm:prSet presAssocID="{C6FA079E-1994-4DF0-A8B6-C2B4D15A5745}" presName="dummyMaxCanvas" presStyleCnt="0">
        <dgm:presLayoutVars/>
      </dgm:prSet>
      <dgm:spPr/>
    </dgm:pt>
    <dgm:pt modelId="{AFEFD33D-DA3D-B644-A481-7531BD59F86C}" type="pres">
      <dgm:prSet presAssocID="{C6FA079E-1994-4DF0-A8B6-C2B4D15A5745}" presName="ThreeNodes_1" presStyleLbl="node1" presStyleIdx="0" presStyleCnt="3">
        <dgm:presLayoutVars>
          <dgm:bulletEnabled val="1"/>
        </dgm:presLayoutVars>
      </dgm:prSet>
      <dgm:spPr/>
    </dgm:pt>
    <dgm:pt modelId="{6AB2F87C-B1F8-2440-93EF-4A39D07FFC64}" type="pres">
      <dgm:prSet presAssocID="{C6FA079E-1994-4DF0-A8B6-C2B4D15A5745}" presName="ThreeNodes_2" presStyleLbl="node1" presStyleIdx="1" presStyleCnt="3">
        <dgm:presLayoutVars>
          <dgm:bulletEnabled val="1"/>
        </dgm:presLayoutVars>
      </dgm:prSet>
      <dgm:spPr/>
    </dgm:pt>
    <dgm:pt modelId="{A42CFF79-2DB5-9548-BCF5-4AB2A66BAB50}" type="pres">
      <dgm:prSet presAssocID="{C6FA079E-1994-4DF0-A8B6-C2B4D15A5745}" presName="ThreeNodes_3" presStyleLbl="node1" presStyleIdx="2" presStyleCnt="3">
        <dgm:presLayoutVars>
          <dgm:bulletEnabled val="1"/>
        </dgm:presLayoutVars>
      </dgm:prSet>
      <dgm:spPr/>
    </dgm:pt>
    <dgm:pt modelId="{27B5A464-B454-AE4C-B4E2-446094A9819C}" type="pres">
      <dgm:prSet presAssocID="{C6FA079E-1994-4DF0-A8B6-C2B4D15A5745}" presName="ThreeConn_1-2" presStyleLbl="fgAccFollowNode1" presStyleIdx="0" presStyleCnt="2">
        <dgm:presLayoutVars>
          <dgm:bulletEnabled val="1"/>
        </dgm:presLayoutVars>
      </dgm:prSet>
      <dgm:spPr/>
    </dgm:pt>
    <dgm:pt modelId="{E402DF23-3CD1-F64C-BBBE-4D90AEECFAAD}" type="pres">
      <dgm:prSet presAssocID="{C6FA079E-1994-4DF0-A8B6-C2B4D15A5745}" presName="ThreeConn_2-3" presStyleLbl="fgAccFollowNode1" presStyleIdx="1" presStyleCnt="2">
        <dgm:presLayoutVars>
          <dgm:bulletEnabled val="1"/>
        </dgm:presLayoutVars>
      </dgm:prSet>
      <dgm:spPr/>
    </dgm:pt>
    <dgm:pt modelId="{E83E03F0-54B1-8D4D-B5F3-1056BDA105BC}" type="pres">
      <dgm:prSet presAssocID="{C6FA079E-1994-4DF0-A8B6-C2B4D15A5745}" presName="ThreeNodes_1_text" presStyleLbl="node1" presStyleIdx="2" presStyleCnt="3">
        <dgm:presLayoutVars>
          <dgm:bulletEnabled val="1"/>
        </dgm:presLayoutVars>
      </dgm:prSet>
      <dgm:spPr/>
    </dgm:pt>
    <dgm:pt modelId="{5C80E977-9632-2943-A169-93C823518C93}" type="pres">
      <dgm:prSet presAssocID="{C6FA079E-1994-4DF0-A8B6-C2B4D15A5745}" presName="ThreeNodes_2_text" presStyleLbl="node1" presStyleIdx="2" presStyleCnt="3">
        <dgm:presLayoutVars>
          <dgm:bulletEnabled val="1"/>
        </dgm:presLayoutVars>
      </dgm:prSet>
      <dgm:spPr/>
    </dgm:pt>
    <dgm:pt modelId="{99A7F7FC-F195-854E-A49A-B4BE40510636}" type="pres">
      <dgm:prSet presAssocID="{C6FA079E-1994-4DF0-A8B6-C2B4D15A574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E88CA17-7403-45B9-A1C0-DC37336BDF30}" srcId="{C6FA079E-1994-4DF0-A8B6-C2B4D15A5745}" destId="{F2D4FAA0-C344-44C7-9CBA-097B72D3C465}" srcOrd="1" destOrd="0" parTransId="{E9C36E0D-9FAC-4345-8D90-5FB027ED14EA}" sibTransId="{CD9427D5-C7C2-442B-9995-66E61A521945}"/>
    <dgm:cxn modelId="{4FDE5824-2DEA-334F-AC25-72C2E888F217}" type="presOf" srcId="{F4ADF75A-0FB1-45F2-8E14-C41F4AE0D461}" destId="{27B5A464-B454-AE4C-B4E2-446094A9819C}" srcOrd="0" destOrd="0" presId="urn:microsoft.com/office/officeart/2005/8/layout/vProcess5"/>
    <dgm:cxn modelId="{54278132-CE42-4375-91B2-1CC834C608EC}" srcId="{C6FA079E-1994-4DF0-A8B6-C2B4D15A5745}" destId="{B6D7D568-D78F-475D-9078-23A9FA383D9B}" srcOrd="2" destOrd="0" parTransId="{E8E89F03-D199-4198-81CE-1402B91655CF}" sibTransId="{534A3B36-0AEC-44A0-B1F0-D07EE60E656F}"/>
    <dgm:cxn modelId="{ABE08638-63FC-654F-9137-8979BFB02F74}" type="presOf" srcId="{F2D4FAA0-C344-44C7-9CBA-097B72D3C465}" destId="{5C80E977-9632-2943-A169-93C823518C93}" srcOrd="1" destOrd="0" presId="urn:microsoft.com/office/officeart/2005/8/layout/vProcess5"/>
    <dgm:cxn modelId="{6D88CB49-3F5F-2C47-B1CF-273B73AC5DC4}" type="presOf" srcId="{B6D7D568-D78F-475D-9078-23A9FA383D9B}" destId="{A42CFF79-2DB5-9548-BCF5-4AB2A66BAB50}" srcOrd="0" destOrd="0" presId="urn:microsoft.com/office/officeart/2005/8/layout/vProcess5"/>
    <dgm:cxn modelId="{4A351B6C-9FFA-EF48-A611-810A8D318287}" type="presOf" srcId="{CD9427D5-C7C2-442B-9995-66E61A521945}" destId="{E402DF23-3CD1-F64C-BBBE-4D90AEECFAAD}" srcOrd="0" destOrd="0" presId="urn:microsoft.com/office/officeart/2005/8/layout/vProcess5"/>
    <dgm:cxn modelId="{9E55AD70-02FC-416E-A783-9170E1D57ECE}" srcId="{C6FA079E-1994-4DF0-A8B6-C2B4D15A5745}" destId="{D7E766A2-F583-48CF-BC4B-3A7A83EFC83D}" srcOrd="0" destOrd="0" parTransId="{FEF49C14-2E2D-4F20-B738-9244558C4DBE}" sibTransId="{F4ADF75A-0FB1-45F2-8E14-C41F4AE0D461}"/>
    <dgm:cxn modelId="{6A59819B-1168-2B42-B1DA-D47192CAF8BF}" type="presOf" srcId="{F2D4FAA0-C344-44C7-9CBA-097B72D3C465}" destId="{6AB2F87C-B1F8-2440-93EF-4A39D07FFC64}" srcOrd="0" destOrd="0" presId="urn:microsoft.com/office/officeart/2005/8/layout/vProcess5"/>
    <dgm:cxn modelId="{B0E90D9E-CFA8-F740-90CB-D4664ED29A58}" type="presOf" srcId="{D7E766A2-F583-48CF-BC4B-3A7A83EFC83D}" destId="{E83E03F0-54B1-8D4D-B5F3-1056BDA105BC}" srcOrd="1" destOrd="0" presId="urn:microsoft.com/office/officeart/2005/8/layout/vProcess5"/>
    <dgm:cxn modelId="{C2CCBCB8-715D-994B-9028-F55C5A2F227A}" type="presOf" srcId="{B6D7D568-D78F-475D-9078-23A9FA383D9B}" destId="{99A7F7FC-F195-854E-A49A-B4BE40510636}" srcOrd="1" destOrd="0" presId="urn:microsoft.com/office/officeart/2005/8/layout/vProcess5"/>
    <dgm:cxn modelId="{D39A2CE6-7C0B-884B-B1DC-595892AE2A72}" type="presOf" srcId="{C6FA079E-1994-4DF0-A8B6-C2B4D15A5745}" destId="{461FD8F8-F35A-3346-A7C3-B0446150162D}" srcOrd="0" destOrd="0" presId="urn:microsoft.com/office/officeart/2005/8/layout/vProcess5"/>
    <dgm:cxn modelId="{C4E223F0-00D4-734C-A0DD-349C80A0557A}" type="presOf" srcId="{D7E766A2-F583-48CF-BC4B-3A7A83EFC83D}" destId="{AFEFD33D-DA3D-B644-A481-7531BD59F86C}" srcOrd="0" destOrd="0" presId="urn:microsoft.com/office/officeart/2005/8/layout/vProcess5"/>
    <dgm:cxn modelId="{066B0792-F94F-6F48-AA53-197AD82191F6}" type="presParOf" srcId="{461FD8F8-F35A-3346-A7C3-B0446150162D}" destId="{082A485B-703D-904B-9C15-AA360FEE73EF}" srcOrd="0" destOrd="0" presId="urn:microsoft.com/office/officeart/2005/8/layout/vProcess5"/>
    <dgm:cxn modelId="{2BE1399E-4448-4A4A-B98F-CABE68245E9A}" type="presParOf" srcId="{461FD8F8-F35A-3346-A7C3-B0446150162D}" destId="{AFEFD33D-DA3D-B644-A481-7531BD59F86C}" srcOrd="1" destOrd="0" presId="urn:microsoft.com/office/officeart/2005/8/layout/vProcess5"/>
    <dgm:cxn modelId="{413D2416-1AC5-704A-A0E2-8A77BD5D4C4C}" type="presParOf" srcId="{461FD8F8-F35A-3346-A7C3-B0446150162D}" destId="{6AB2F87C-B1F8-2440-93EF-4A39D07FFC64}" srcOrd="2" destOrd="0" presId="urn:microsoft.com/office/officeart/2005/8/layout/vProcess5"/>
    <dgm:cxn modelId="{FC07BC04-3AA3-D443-A67D-63B515E43265}" type="presParOf" srcId="{461FD8F8-F35A-3346-A7C3-B0446150162D}" destId="{A42CFF79-2DB5-9548-BCF5-4AB2A66BAB50}" srcOrd="3" destOrd="0" presId="urn:microsoft.com/office/officeart/2005/8/layout/vProcess5"/>
    <dgm:cxn modelId="{C5AC397A-791E-D94F-BE6D-9E4DD75642DD}" type="presParOf" srcId="{461FD8F8-F35A-3346-A7C3-B0446150162D}" destId="{27B5A464-B454-AE4C-B4E2-446094A9819C}" srcOrd="4" destOrd="0" presId="urn:microsoft.com/office/officeart/2005/8/layout/vProcess5"/>
    <dgm:cxn modelId="{0DEEA820-8729-2745-9EB8-5DF8A0343896}" type="presParOf" srcId="{461FD8F8-F35A-3346-A7C3-B0446150162D}" destId="{E402DF23-3CD1-F64C-BBBE-4D90AEECFAAD}" srcOrd="5" destOrd="0" presId="urn:microsoft.com/office/officeart/2005/8/layout/vProcess5"/>
    <dgm:cxn modelId="{02D27C3C-C452-9C4E-897E-048B3C813181}" type="presParOf" srcId="{461FD8F8-F35A-3346-A7C3-B0446150162D}" destId="{E83E03F0-54B1-8D4D-B5F3-1056BDA105BC}" srcOrd="6" destOrd="0" presId="urn:microsoft.com/office/officeart/2005/8/layout/vProcess5"/>
    <dgm:cxn modelId="{312A4F96-2572-8241-999C-3B6026A2FEE3}" type="presParOf" srcId="{461FD8F8-F35A-3346-A7C3-B0446150162D}" destId="{5C80E977-9632-2943-A169-93C823518C93}" srcOrd="7" destOrd="0" presId="urn:microsoft.com/office/officeart/2005/8/layout/vProcess5"/>
    <dgm:cxn modelId="{9853FAAD-FE04-A348-BD3F-4486C2A6E0B7}" type="presParOf" srcId="{461FD8F8-F35A-3346-A7C3-B0446150162D}" destId="{99A7F7FC-F195-854E-A49A-B4BE4051063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FD33D-DA3D-B644-A481-7531BD59F86C}">
      <dsp:nvSpPr>
        <dsp:cNvPr id="0" name=""/>
        <dsp:cNvSpPr/>
      </dsp:nvSpPr>
      <dsp:spPr>
        <a:xfrm>
          <a:off x="0" y="0"/>
          <a:ext cx="7993699" cy="1216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Maven 4 - what’s new</a:t>
          </a:r>
          <a:endParaRPr lang="en-US" sz="3600" kern="1200" dirty="0"/>
        </a:p>
      </dsp:txBody>
      <dsp:txXfrm>
        <a:off x="35643" y="35643"/>
        <a:ext cx="6680535" cy="1145644"/>
      </dsp:txXfrm>
    </dsp:sp>
    <dsp:sp modelId="{6AB2F87C-B1F8-2440-93EF-4A39D07FFC64}">
      <dsp:nvSpPr>
        <dsp:cNvPr id="0" name=""/>
        <dsp:cNvSpPr/>
      </dsp:nvSpPr>
      <dsp:spPr>
        <a:xfrm>
          <a:off x="705326" y="1419751"/>
          <a:ext cx="7993699" cy="1216930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Java 25 – what’s awesome</a:t>
          </a:r>
          <a:endParaRPr lang="en-US" sz="3600" kern="1200" dirty="0"/>
        </a:p>
      </dsp:txBody>
      <dsp:txXfrm>
        <a:off x="740969" y="1455394"/>
        <a:ext cx="6426082" cy="1145644"/>
      </dsp:txXfrm>
    </dsp:sp>
    <dsp:sp modelId="{A42CFF79-2DB5-9548-BCF5-4AB2A66BAB50}">
      <dsp:nvSpPr>
        <dsp:cNvPr id="0" name=""/>
        <dsp:cNvSpPr/>
      </dsp:nvSpPr>
      <dsp:spPr>
        <a:xfrm>
          <a:off x="1410652" y="2839503"/>
          <a:ext cx="7993699" cy="1216930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Spring 7 – what’s cool</a:t>
          </a:r>
          <a:endParaRPr lang="en-US" sz="3600" kern="1200" dirty="0"/>
        </a:p>
      </dsp:txBody>
      <dsp:txXfrm>
        <a:off x="1446295" y="2875146"/>
        <a:ext cx="6426082" cy="1145644"/>
      </dsp:txXfrm>
    </dsp:sp>
    <dsp:sp modelId="{27B5A464-B454-AE4C-B4E2-446094A9819C}">
      <dsp:nvSpPr>
        <dsp:cNvPr id="0" name=""/>
        <dsp:cNvSpPr/>
      </dsp:nvSpPr>
      <dsp:spPr>
        <a:xfrm>
          <a:off x="7202694" y="922838"/>
          <a:ext cx="791004" cy="79100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7380670" y="922838"/>
        <a:ext cx="435052" cy="595231"/>
      </dsp:txXfrm>
    </dsp:sp>
    <dsp:sp modelId="{E402DF23-3CD1-F64C-BBBE-4D90AEECFAAD}">
      <dsp:nvSpPr>
        <dsp:cNvPr id="0" name=""/>
        <dsp:cNvSpPr/>
      </dsp:nvSpPr>
      <dsp:spPr>
        <a:xfrm>
          <a:off x="7908020" y="2334477"/>
          <a:ext cx="791004" cy="79100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085996" y="2334477"/>
        <a:ext cx="435052" cy="595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1717A-8604-9C49-9115-9B2537028286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A8FFB-CB5A-5744-992F-509A4FA86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7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resolver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/Downloads/jdk25-parent-project/toolchains-demo/</a:t>
            </a:r>
            <a:r>
              <a:rPr lang="en-US" dirty="0" err="1"/>
              <a:t>README.adoc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6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Maven 4 consume pom – does not contain plugin configuration and POM properties. Maven 4 has declared war on boilerplate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7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and open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62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/Downloads/jdk25-parent-project/demos/</a:t>
            </a:r>
            <a:r>
              <a:rPr lang="en-US" dirty="0" err="1"/>
              <a:t>fancy_pom.xml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59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&lt;modules&gt; can still be used but it is now deprecated.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/Downloads/jdk25-parent-project/demos/</a:t>
            </a:r>
            <a:r>
              <a:rPr lang="en-US" dirty="0" err="1"/>
              <a:t>fancy_pom.xml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74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of October 2025, only Maven Compiler Plugin (version 4.0.0-beta-3 and newer) complies with the new types. Other plugins will be updated progressively.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07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BOM: This now differentiates between parent POMs and dependency-managing BOMs.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48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6650-611B-5B56-935F-B0862DA7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646E-4204-F0B1-A5B9-143F37ADA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FD86E-3A81-A60A-8C0F-050FD090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/Downloads/jdk25-parent-project/demos/</a:t>
            </a:r>
            <a:r>
              <a:rPr lang="en-US" dirty="0" err="1"/>
              <a:t>fancy_pom.xml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F7E33-F7B6-4F13-C70D-C418A107D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1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does not work yet.</a:t>
            </a:r>
          </a:p>
          <a:p>
            <a:endParaRPr lang="en-US" dirty="0"/>
          </a:p>
          <a:p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/Downloads/jdk25-parent-project/child-one-project/</a:t>
            </a:r>
            <a:r>
              <a:rPr lang="en-US" dirty="0" err="1"/>
              <a:t>pom.xml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0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/Downloads/jdk25-parent-project/child-one-project/</a:t>
            </a:r>
            <a:r>
              <a:rPr lang="en-US" dirty="0" err="1"/>
              <a:t>pom.xml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08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/Downloads/jdk25-parent-project/</a:t>
            </a:r>
            <a:r>
              <a:rPr lang="en-US" dirty="0" err="1"/>
              <a:t>pom.xml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10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mentioned this in my previous Maven presentation too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file:///Users/</a:t>
            </a:r>
            <a:r>
              <a:rPr lang="en-US" dirty="0" err="1"/>
              <a:t>iulianacosmina</a:t>
            </a:r>
            <a:r>
              <a:rPr lang="en-US" dirty="0"/>
              <a:t>/sandbox/jdk25-parent-project/demos/</a:t>
            </a:r>
            <a:r>
              <a:rPr lang="en-US" dirty="0" err="1"/>
              <a:t>fancy_pom.xml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66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3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haven’t tested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31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fos</a:t>
            </a:r>
            <a:r>
              <a:rPr lang="en-US" dirty="0"/>
              <a:t> does not work  yet, does not even appear in the CLI doc</a:t>
            </a:r>
          </a:p>
          <a:p>
            <a:endParaRPr lang="en-US" dirty="0"/>
          </a:p>
          <a:p>
            <a:r>
              <a:rPr lang="en-US" dirty="0"/>
              <a:t>Test profiles:</a:t>
            </a:r>
          </a:p>
          <a:p>
            <a:r>
              <a:rPr lang="en-US" dirty="0"/>
              <a:t>cd /Users/</a:t>
            </a:r>
            <a:r>
              <a:rPr lang="en-US" dirty="0" err="1"/>
              <a:t>iulianacosmina</a:t>
            </a:r>
            <a:r>
              <a:rPr lang="en-US" dirty="0"/>
              <a:t>/Downloads/jdk25-parent-project/child-three-project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29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 three of phases  lifecycle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for more fine-grained execution of dependent phases.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suitable for big projects with intricate dependencies. 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file:///Users/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iulianacosmina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/Downloads/jdk25-parent-project/demos/01-Maven.adoc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and after are called minor phases, the ones wrapped in them are major phases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78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8D2CA-4BCF-35B1-E117-8086F87D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8AF9F-7C34-3843-7F3F-BDD9722F4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6B79B-B5E7-0F58-3245-CC39DAEE8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b="1" dirty="0">
                <a:cs typeface="Consolas" panose="020B0609020204030204" pitchFamily="49" charset="0"/>
              </a:rPr>
              <a:t>Improved dependency resolution – resolution algorithm has been tuned, leading to faster resolution and reduced overhead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b="1" dirty="0">
                <a:cs typeface="Consolas" panose="020B0609020204030204" pitchFamily="49" charset="0"/>
              </a:rPr>
              <a:t>Reduced memory consumption – makes it more efficient especially in resource-constrained environments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b="1" dirty="0">
                <a:cs typeface="Consolas" panose="020B0609020204030204" pitchFamily="49" charset="0"/>
              </a:rPr>
              <a:t>Incremental build improvements – smarter about detecting changes and rebuilding necessary modules, reducing build times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BF9A9-B378-5A51-51D9-A29B6C24E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98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Build plugin with 3.9 and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Dmaven.plugin.validation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=verbose to get all the help to upgrade a plugin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Maven Artifact Resolver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library for working with artifact repositories and dependency resolution.</a:t>
            </a:r>
          </a:p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</a:p>
          <a:p>
            <a:pPr marL="171450" indent="-171450">
              <a:buFontTx/>
              <a:buChar char="-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v. 2.0.0-rc-3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66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4799-361E-899C-023B-F90B9B25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D1119-CCE4-0049-9289-B9FFF0D1B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B8E1A-837F-C1AB-1DD7-4F5ECFE72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7DA9E-136C-04B0-4933-E57C6EC90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83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A8FFB-CB5A-5744-992F-509A4FA866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4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uliana/jdk25-parent-projec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veniverse/mas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pache/maven-hocon-extensi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maven-core/artifact-handler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ssues.apache.org/jira/browse/MNG-686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tools/mvnup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ssues.apache.org/jira/secure/ReleaseNote.jspa?projectId=12316922&amp;version=12346477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pache/maven-mvnd" TargetMode="External"/><Relationship Id="rId3" Type="http://schemas.openxmlformats.org/officeDocument/2006/relationships/hyperlink" Target="https://maarten.mulders.it/2021/03/introduction-to-maven-toolchains" TargetMode="External"/><Relationship Id="rId7" Type="http://schemas.openxmlformats.org/officeDocument/2006/relationships/hyperlink" Target="https://cstamas.org/blog/2024/09/handling-sensitive-data-in-maven" TargetMode="External"/><Relationship Id="rId2" Type="http://schemas.openxmlformats.org/officeDocument/2006/relationships/hyperlink" Target="https://maven.apache.org/whatsnewinmaven4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azelbuild" TargetMode="External"/><Relationship Id="rId5" Type="http://schemas.openxmlformats.org/officeDocument/2006/relationships/hyperlink" Target="https://gradle.org/" TargetMode="External"/><Relationship Id="rId4" Type="http://schemas.openxmlformats.org/officeDocument/2006/relationships/hyperlink" Target="https://ant.apache.org/" TargetMode="External"/><Relationship Id="rId9" Type="http://schemas.openxmlformats.org/officeDocument/2006/relationships/hyperlink" Target="https://maven.apache.org/tools/mvnsh.html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75197-3639-F848-79A7-629236301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1">
                <a:solidFill>
                  <a:srgbClr val="EBEBEB"/>
                </a:solidFill>
              </a:rPr>
              <a:t>Introducing:</a:t>
            </a:r>
            <a:br>
              <a:rPr lang="en-US" sz="5600" b="1">
                <a:solidFill>
                  <a:srgbClr val="EBEBEB"/>
                </a:solidFill>
              </a:rPr>
            </a:br>
            <a:r>
              <a:rPr lang="en-US" sz="5600" b="1">
                <a:solidFill>
                  <a:srgbClr val="EBEBEB"/>
                </a:solidFill>
              </a:rPr>
              <a:t>Maven 4,  </a:t>
            </a:r>
            <a:br>
              <a:rPr lang="en-US" sz="5600" b="1">
                <a:solidFill>
                  <a:srgbClr val="EBEBEB"/>
                </a:solidFill>
              </a:rPr>
            </a:br>
            <a:r>
              <a:rPr lang="en-US" sz="5600" b="1">
                <a:solidFill>
                  <a:srgbClr val="EBEBEB"/>
                </a:solidFill>
              </a:rPr>
              <a:t>Java 25 &amp; </a:t>
            </a:r>
            <a:br>
              <a:rPr lang="en-US" sz="5600" b="1">
                <a:solidFill>
                  <a:srgbClr val="EBEBEB"/>
                </a:solidFill>
              </a:rPr>
            </a:br>
            <a:r>
              <a:rPr lang="en-US" sz="5600" b="1">
                <a:solidFill>
                  <a:srgbClr val="EBEBEB"/>
                </a:solidFill>
              </a:rPr>
              <a:t>Spring 7</a:t>
            </a:r>
            <a:endParaRPr lang="en-US" sz="560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55A71-879B-1C6F-390D-4D4874A55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979490"/>
            <a:ext cx="5222326" cy="86142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>
                    <a:lumMod val="40000"/>
                    <a:lumOff val="60000"/>
                  </a:schemeClr>
                </a:solidFill>
                <a:latin typeface="Lato" panose="020F0502020204030204" pitchFamily="34" charset="0"/>
              </a:rPr>
              <a:t>Iuliana Cosmina, Oct 2025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up of coffee with foam&#10;&#10;AI-generated content may be incorrect.">
            <a:extLst>
              <a:ext uri="{FF2B5EF4-FFF2-40B4-BE49-F238E27FC236}">
                <a16:creationId xmlns:a16="http://schemas.microsoft.com/office/drawing/2014/main" id="{1AFC4AF8-35AD-F007-520C-46DFBD3691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68" r="23980" b="-2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087EA38-2752-0995-BAC3-2489E5DFAD63}"/>
              </a:ext>
            </a:extLst>
          </p:cNvPr>
          <p:cNvSpPr txBox="1">
            <a:spLocks/>
          </p:cNvSpPr>
          <p:nvPr/>
        </p:nvSpPr>
        <p:spPr>
          <a:xfrm>
            <a:off x="5682270" y="6427290"/>
            <a:ext cx="6396841" cy="430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Lato" panose="020F0502020204030204" pitchFamily="34" charset="0"/>
              </a:rPr>
              <a:t> 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  <a:latin typeface="Lato" panose="020F0502020204030204" pitchFamily="34" charset="0"/>
                <a:hlinkClick r:id="rId4"/>
              </a:rPr>
              <a:t>https://github.com/iuliana/jdk25-parent-project</a:t>
            </a:r>
            <a:endParaRPr lang="en-US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64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2D5E-F5F5-ECA1-6007-6EAAC40A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400336-3F31-3F06-B399-C13B79F1C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8015336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029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B0F18-62C4-09C3-27AA-6697CFD9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48839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GB" sz="7300" dirty="0">
                <a:solidFill>
                  <a:schemeClr val="bg1"/>
                </a:solidFill>
              </a:rPr>
              <a:t>Maven 4 - what’s new</a:t>
            </a:r>
            <a:br>
              <a:rPr lang="en-US" sz="5400" dirty="0">
                <a:solidFill>
                  <a:schemeClr val="bg1"/>
                </a:solidFill>
              </a:rPr>
            </a:br>
            <a:endParaRPr lang="en-US" sz="54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ontent Placeholder 3" descr="A colorful leaf with a black line&#10;&#10;AI-generated content may be incorrect.">
            <a:extLst>
              <a:ext uri="{FF2B5EF4-FFF2-40B4-BE49-F238E27FC236}">
                <a16:creationId xmlns:a16="http://schemas.microsoft.com/office/drawing/2014/main" id="{51318B19-EB22-F098-6A52-6FA9170CC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r="-1" b="6424"/>
          <a:stretch>
            <a:fillRect/>
          </a:stretch>
        </p:blipFill>
        <p:spPr>
          <a:xfrm>
            <a:off x="1899707" y="647698"/>
            <a:ext cx="3758955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28658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6AE4-DCA2-8A7F-E5D4-D3906DAA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– General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BE2AF-846E-936F-4E5C-625217196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66530" cy="419548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Very capable and versatile project and build management tool</a:t>
            </a:r>
          </a:p>
          <a:p>
            <a:r>
              <a:rPr lang="en-US" sz="2400" dirty="0"/>
              <a:t>Relies on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pom.xml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/>
              <a:t>(Project Object Model )</a:t>
            </a:r>
          </a:p>
          <a:p>
            <a:r>
              <a:rPr lang="en-US" sz="2400" dirty="0"/>
              <a:t>XML </a:t>
            </a:r>
          </a:p>
          <a:p>
            <a:pPr lvl="1"/>
            <a:r>
              <a:rPr lang="en-US" sz="2200" dirty="0"/>
              <a:t>Consistent</a:t>
            </a:r>
          </a:p>
          <a:p>
            <a:pPr lvl="1"/>
            <a:r>
              <a:rPr lang="en-US" sz="2200" dirty="0"/>
              <a:t>Verbose</a:t>
            </a:r>
          </a:p>
          <a:p>
            <a:pPr lvl="1"/>
            <a:r>
              <a:rPr lang="en-US" sz="2200" dirty="0"/>
              <a:t>Redundant (e.g. </a:t>
            </a:r>
            <a:r>
              <a:rPr lang="en-US" sz="2200" i="1" dirty="0" err="1"/>
              <a:t>DependencyManagement</a:t>
            </a:r>
            <a:r>
              <a:rPr lang="en-US" sz="2200" dirty="0"/>
              <a:t>, </a:t>
            </a:r>
            <a:r>
              <a:rPr lang="en-US" sz="2200" i="1" dirty="0" err="1"/>
              <a:t>PluginManagement</a:t>
            </a:r>
            <a:r>
              <a:rPr lang="en-US" sz="2200" i="1" dirty="0"/>
              <a:t>, and multiple </a:t>
            </a:r>
            <a:r>
              <a:rPr lang="en-US" sz="2200" i="1" dirty="0" err="1"/>
              <a:t>pom.xml</a:t>
            </a:r>
            <a:r>
              <a:rPr lang="en-US" sz="2200" dirty="0"/>
              <a:t>)</a:t>
            </a:r>
          </a:p>
          <a:p>
            <a:r>
              <a:rPr lang="en-US" sz="2400" dirty="0"/>
              <a:t>Introduced standardized project structure, versioning system, artifact identity and idea of a remote repository</a:t>
            </a:r>
          </a:p>
          <a:p>
            <a:r>
              <a:rPr lang="en-US" sz="2400" dirty="0"/>
              <a:t>Config looks different than code</a:t>
            </a:r>
          </a:p>
        </p:txBody>
      </p:sp>
    </p:spTree>
    <p:extLst>
      <p:ext uri="{BB962C8B-B14F-4D97-AF65-F5344CB8AC3E}">
        <p14:creationId xmlns:p14="http://schemas.microsoft.com/office/powerpoint/2010/main" val="18666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9BE5-AA5C-8956-C313-E18B1E84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082F-FC77-D532-E1E3-D876DA52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 – JDK changes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C4FAF-05D9-BC2E-7C94-ADE715D99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Maven 4 requires Java 17 to run, but can still compile against older Java versions by using the Toolchains Plugin</a:t>
            </a:r>
          </a:p>
          <a:p>
            <a:r>
              <a:rPr lang="en-US" dirty="0"/>
              <a:t>Let me show you…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08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782C-9E18-A15D-94D1-1654898D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POM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4159-F5EF-3A9E-9820-2F76CE71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338720" cy="419548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information in 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pom.xml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/>
              <a:t>can be split in 2 categories</a:t>
            </a:r>
          </a:p>
          <a:p>
            <a:pPr lvl="1"/>
            <a:r>
              <a:rPr lang="en-US" sz="2400" dirty="0"/>
              <a:t>all information and configuration needed to build the artifact (build POM) </a:t>
            </a:r>
          </a:p>
          <a:p>
            <a:pPr lvl="1"/>
            <a:r>
              <a:rPr lang="en-US" sz="2400" dirty="0"/>
              <a:t>and dependencies needed to build the artifact (consumer POM)</a:t>
            </a:r>
          </a:p>
          <a:p>
            <a:r>
              <a:rPr lang="en-US" sz="2600" dirty="0"/>
              <a:t>Projects using an artifact (“consumers”) need the second bit, not the first bit</a:t>
            </a:r>
          </a:p>
          <a:p>
            <a:r>
              <a:rPr lang="en-GB" sz="2600" dirty="0"/>
              <a:t>Maven 4 generates a stripped-down consumer POM that removes build information not needed by consumers, and deploys this to the remote repository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1011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CDEF-0D70-0C9C-E226-11B6B078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4 -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3EAB9-A0D8-E034-6D97-683959796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Consumer POM syntax is still set in stone</a:t>
            </a:r>
          </a:p>
          <a:p>
            <a:r>
              <a:rPr lang="en-US" sz="2400" dirty="0"/>
              <a:t>Build POM is allowed to evolve. Alternate syntaxes can be supported via </a:t>
            </a:r>
            <a:r>
              <a:rPr lang="en-GB" sz="2400" dirty="0"/>
              <a:t>a </a:t>
            </a:r>
            <a:r>
              <a:rPr lang="en-GB" sz="2400" b="1" dirty="0" err="1"/>
              <a:t>ModelParser</a:t>
            </a:r>
            <a:r>
              <a:rPr lang="en-GB" sz="2400" b="1" dirty="0"/>
              <a:t> SPI</a:t>
            </a:r>
          </a:p>
          <a:p>
            <a:r>
              <a:rPr lang="en-GB" sz="2400" dirty="0"/>
              <a:t>Extensions Under Development </a:t>
            </a:r>
          </a:p>
          <a:p>
            <a:pPr lvl="1"/>
            <a:r>
              <a:rPr lang="en-GB" sz="2200" dirty="0"/>
              <a:t>Mason: </a:t>
            </a:r>
            <a:r>
              <a:rPr lang="en-GB" sz="2200" dirty="0">
                <a:hlinkClick r:id="rId3"/>
              </a:rPr>
              <a:t>https://github.com/maveniverse/mason</a:t>
            </a:r>
            <a:r>
              <a:rPr lang="en-GB" sz="2200" dirty="0"/>
              <a:t> </a:t>
            </a:r>
          </a:p>
          <a:p>
            <a:pPr lvl="1"/>
            <a:r>
              <a:rPr lang="en-GB" sz="2200" dirty="0"/>
              <a:t>Apache </a:t>
            </a:r>
            <a:r>
              <a:rPr lang="en-GB" sz="2200" dirty="0" err="1"/>
              <a:t>Hocon</a:t>
            </a:r>
            <a:r>
              <a:rPr lang="en-GB" sz="2200" dirty="0"/>
              <a:t>: </a:t>
            </a:r>
            <a:r>
              <a:rPr lang="en-GB" sz="2200" dirty="0">
                <a:hlinkClick r:id="rId4"/>
              </a:rPr>
              <a:t>https://github.com/apache/maven-hocon-extension</a:t>
            </a:r>
            <a:r>
              <a:rPr lang="en-GB" sz="2200" dirty="0"/>
              <a:t>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5827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BA86CC-34C3-43C1-B328-62490FE69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3B571-E12F-5E93-69B8-8C34E38F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729050"/>
            <a:ext cx="8716280" cy="916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Maven 4 – Schema Updates (1)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F4C9D6-90BC-48A0-91E8-0F0373CA1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87B2-3471-DE53-CEF7-365AC1E0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9163" y="1645920"/>
            <a:ext cx="6709693" cy="44708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Model Version Schema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Maven 3 is based on POM </a:t>
            </a:r>
            <a:r>
              <a:rPr lang="en-US" sz="2000" b="1" dirty="0"/>
              <a:t>v4.0.0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Maven 4 is based on POM </a:t>
            </a:r>
            <a:r>
              <a:rPr lang="en-US" sz="2000" b="1" dirty="0"/>
              <a:t>v4.1.0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sz="2400" dirty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4B4480EB-5DAF-7BAB-9A29-FFA9EADB2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49" y="3163330"/>
            <a:ext cx="11287608" cy="1575014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0591F6-02A8-54B0-D28B-FF32B35F5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065" y="5056437"/>
            <a:ext cx="10367883" cy="1430861"/>
          </a:xfrm>
          <a:prstGeom prst="rect">
            <a:avLst/>
          </a:prstGeom>
        </p:spPr>
      </p:pic>
      <p:sp>
        <p:nvSpPr>
          <p:cNvPr id="16" name="Down Arrow 15">
            <a:extLst>
              <a:ext uri="{FF2B5EF4-FFF2-40B4-BE49-F238E27FC236}">
                <a16:creationId xmlns:a16="http://schemas.microsoft.com/office/drawing/2014/main" id="{DBEA45F4-FD21-79CF-86AB-E03776F1B8EA}"/>
              </a:ext>
            </a:extLst>
          </p:cNvPr>
          <p:cNvSpPr/>
          <p:nvPr/>
        </p:nvSpPr>
        <p:spPr>
          <a:xfrm rot="18253814">
            <a:off x="6253947" y="4258177"/>
            <a:ext cx="775334" cy="1278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1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B801-D8D9-F493-5F9F-148EB408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Schema Updates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C5241-CE2D-5F7D-5C93-01FFD88D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modules</a:t>
            </a:r>
            <a:r>
              <a:rPr lang="en-US" sz="2400" dirty="0"/>
              <a:t> are now </a:t>
            </a:r>
            <a:r>
              <a:rPr lang="en-US" sz="2400" b="1" dirty="0"/>
              <a:t>subprojects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AA90141-8553-3FC3-148E-E325B7244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53" y="2651211"/>
            <a:ext cx="4660900" cy="1778000"/>
          </a:xfrm>
          <a:prstGeom prst="rect">
            <a:avLst/>
          </a:prstGeom>
        </p:spPr>
      </p:pic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63F31F94-8211-739D-320D-886F87DCF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349" y="4614582"/>
            <a:ext cx="7594600" cy="17907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E39B2FD0-3631-FDB7-668B-E0B0AFD5C816}"/>
              </a:ext>
            </a:extLst>
          </p:cNvPr>
          <p:cNvSpPr/>
          <p:nvPr/>
        </p:nvSpPr>
        <p:spPr>
          <a:xfrm rot="18253814">
            <a:off x="5080056" y="3561864"/>
            <a:ext cx="775334" cy="1278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2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D473-9F77-6B07-DCFD-C01B9888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Schema Updates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9DA9-2528-129C-54B7-7F5CC77B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0200"/>
            <a:ext cx="10254499" cy="46481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New artifact types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jar</a:t>
            </a:r>
            <a:r>
              <a:rPr lang="en-US" sz="2000" dirty="0"/>
              <a:t> (default): </a:t>
            </a:r>
            <a:r>
              <a:rPr lang="en-GB" dirty="0"/>
              <a:t>on the class path or on the module path</a:t>
            </a:r>
            <a:endParaRPr lang="en-US" sz="2000" dirty="0"/>
          </a:p>
          <a:p>
            <a:pPr lvl="1"/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classpath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-jar</a:t>
            </a:r>
            <a:r>
              <a:rPr lang="en-US" sz="2000" dirty="0"/>
              <a:t>: </a:t>
            </a:r>
            <a:r>
              <a:rPr lang="en-GB" sz="2000" dirty="0"/>
              <a:t>on the class path </a:t>
            </a:r>
            <a:endParaRPr lang="en-US" sz="2000" dirty="0"/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modular-jar</a:t>
            </a:r>
            <a:r>
              <a:rPr lang="en-US" sz="2000" dirty="0"/>
              <a:t>: </a:t>
            </a:r>
            <a:r>
              <a:rPr lang="en-GB" sz="2000" dirty="0"/>
              <a:t>on the module path</a:t>
            </a:r>
            <a:endParaRPr lang="en-US" sz="2000" dirty="0"/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processor</a:t>
            </a:r>
            <a:r>
              <a:rPr lang="en-US" sz="2000" dirty="0"/>
              <a:t>:</a:t>
            </a:r>
            <a:r>
              <a:rPr lang="en-GB" dirty="0"/>
              <a:t> on the annotation processor class path or module path</a:t>
            </a:r>
            <a:endParaRPr lang="en-US" sz="2000" dirty="0"/>
          </a:p>
          <a:p>
            <a:pPr lvl="1"/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classpath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-processor</a:t>
            </a:r>
            <a:r>
              <a:rPr lang="en-US" sz="2000" dirty="0"/>
              <a:t>: </a:t>
            </a:r>
            <a:r>
              <a:rPr lang="en-GB" dirty="0"/>
              <a:t>on the annotation processor class path</a:t>
            </a:r>
            <a:endParaRPr lang="en-US" sz="2000" dirty="0"/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modular-processor</a:t>
            </a:r>
            <a:r>
              <a:rPr lang="en-US" sz="2000" dirty="0"/>
              <a:t>: </a:t>
            </a:r>
            <a:r>
              <a:rPr lang="en-GB" dirty="0"/>
              <a:t>on the annotation processor module path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600" dirty="0"/>
              <a:t>List of artifact types: </a:t>
            </a:r>
          </a:p>
          <a:p>
            <a:pPr marL="457200" lvl="1" indent="0">
              <a:buNone/>
            </a:pPr>
            <a:r>
              <a:rPr lang="en-GB" sz="2600" dirty="0">
                <a:hlinkClick r:id="rId3"/>
              </a:rPr>
              <a:t>https://maven.apache.org/maven-core/artifact-handlers.html</a:t>
            </a:r>
            <a:r>
              <a:rPr lang="en-GB" sz="2600" dirty="0"/>
              <a:t> (currently redirects to 3.9.11)</a:t>
            </a:r>
          </a:p>
        </p:txBody>
      </p:sp>
    </p:spTree>
    <p:extLst>
      <p:ext uri="{BB962C8B-B14F-4D97-AF65-F5344CB8AC3E}">
        <p14:creationId xmlns:p14="http://schemas.microsoft.com/office/powerpoint/2010/main" val="135696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3195-3AFE-1DBD-EA13-07C0D00C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Schema Updates (4)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D1BD0-781C-3D82-BF63-8FEA4B6D5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New packaging type: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bom</a:t>
            </a:r>
            <a:endParaRPr 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200" dirty="0"/>
              <a:t>Bill of Materials POM</a:t>
            </a:r>
          </a:p>
          <a:p>
            <a:r>
              <a:rPr lang="en-US" sz="2400" dirty="0"/>
              <a:t>There is a clear differentiation between build POM and Consumer POM</a:t>
            </a:r>
          </a:p>
          <a:p>
            <a:pPr lvl="1"/>
            <a:r>
              <a:rPr lang="en-US" sz="2200" dirty="0"/>
              <a:t>Build POM contains plugin configuration and properties</a:t>
            </a:r>
          </a:p>
          <a:p>
            <a:pPr lvl="1"/>
            <a:r>
              <a:rPr lang="en-US" sz="2200" dirty="0"/>
              <a:t>Consumer POM, the one generated and packed with your artifact does not, which makes it more concise and smaller in size.</a:t>
            </a:r>
          </a:p>
        </p:txBody>
      </p:sp>
    </p:spTree>
    <p:extLst>
      <p:ext uri="{BB962C8B-B14F-4D97-AF65-F5344CB8AC3E}">
        <p14:creationId xmlns:p14="http://schemas.microsoft.com/office/powerpoint/2010/main" val="30655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B205-178C-F2E7-FB72-BA93CD7F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0B93-0E8D-2EB6-3585-09849C96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Schema Updates (5)</a:t>
            </a:r>
            <a:endParaRPr lang="en-US" dirty="0"/>
          </a:p>
        </p:txBody>
      </p:sp>
      <p:sp>
        <p:nvSpPr>
          <p:cNvPr id="3" name="Content Placeholder 2" descr="New directory propertie${project.rootDirectory}">
            <a:extLst>
              <a:ext uri="{FF2B5EF4-FFF2-40B4-BE49-F238E27FC236}">
                <a16:creationId xmlns:a16="http://schemas.microsoft.com/office/drawing/2014/main" id="{F283FE46-1ACD-212B-5987-9923E671B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42" y="1433384"/>
            <a:ext cx="10206316" cy="4777945"/>
          </a:xfrm>
        </p:spPr>
        <p:txBody>
          <a:bodyPr>
            <a:normAutofit/>
          </a:bodyPr>
          <a:lstStyle/>
          <a:p>
            <a:r>
              <a:rPr lang="en-US" sz="2400" dirty="0"/>
              <a:t>Declaring the root directory</a:t>
            </a:r>
          </a:p>
          <a:p>
            <a:pPr lvl="1"/>
            <a:r>
              <a:rPr lang="en-US" sz="2200" dirty="0"/>
              <a:t>In Maven 3 you would create a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/>
              <a:t>directory and add configuration for subprojects there</a:t>
            </a:r>
          </a:p>
          <a:p>
            <a:pPr lvl="1"/>
            <a:r>
              <a:rPr lang="en-US" sz="2200" dirty="0"/>
              <a:t>In Maven 4, it is done via  POM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New directory properties</a:t>
            </a:r>
          </a:p>
          <a:p>
            <a:pPr lvl="1"/>
            <a:endParaRPr lang="en-US" sz="2200" dirty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ECF4950-C5F4-6704-1A7E-0FA0DEBE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49" y="3167703"/>
            <a:ext cx="9277066" cy="1539145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E739836-2AB5-FAC8-CA9E-09DAD46C7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005" y="5432645"/>
            <a:ext cx="7513080" cy="130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6AD9-36FC-4778-3372-2F2183F0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4 - Schema Updates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41A1-E9B8-FB4F-83FC-88996200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2232"/>
            <a:ext cx="8946541" cy="4636167"/>
          </a:xfrm>
        </p:spPr>
        <p:txBody>
          <a:bodyPr/>
          <a:lstStyle/>
          <a:p>
            <a:r>
              <a:rPr lang="en-GB" sz="2400" dirty="0"/>
              <a:t>New way to declare source directories</a:t>
            </a:r>
          </a:p>
          <a:p>
            <a:endParaRPr lang="en-US" dirty="0"/>
          </a:p>
        </p:txBody>
      </p:sp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CA118D73-E51E-39E7-517E-F198A78A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52" y="2222023"/>
            <a:ext cx="7531100" cy="1828800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D0D43C4-F092-AAF6-11A4-5B3C6E147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32" y="3012762"/>
            <a:ext cx="5257800" cy="36576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88DB41A9-C780-189C-ABA2-C4B0AFFBE1E1}"/>
              </a:ext>
            </a:extLst>
          </p:cNvPr>
          <p:cNvSpPr/>
          <p:nvPr/>
        </p:nvSpPr>
        <p:spPr>
          <a:xfrm rot="18253814">
            <a:off x="5708332" y="3522261"/>
            <a:ext cx="775334" cy="1278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7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74C6-61ED-D652-4295-58589936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Automatic Versioning &amp; Parent inference</a:t>
            </a:r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C5E10E-B7D8-7CCD-8A0B-DF93FBBB2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1753" y="2195763"/>
            <a:ext cx="6032500" cy="3886200"/>
          </a:xfrm>
        </p:spPr>
      </p:pic>
    </p:spTree>
    <p:extLst>
      <p:ext uri="{BB962C8B-B14F-4D97-AF65-F5344CB8AC3E}">
        <p14:creationId xmlns:p14="http://schemas.microsoft.com/office/powerpoint/2010/main" val="3596793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F7FC-BDC8-0691-5894-D59596B5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CEA5-0C8E-DA69-D8F0-5DA5A2C4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Maven 4 – Subprojects discovery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D689-CE75-6853-DF50-D17E39BA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29946"/>
            <a:ext cx="10278562" cy="4518453"/>
          </a:xfrm>
        </p:spPr>
        <p:txBody>
          <a:bodyPr>
            <a:normAutofit/>
          </a:bodyPr>
          <a:lstStyle/>
          <a:p>
            <a:r>
              <a:rPr lang="en-US" sz="2800" dirty="0"/>
              <a:t>Yeap  …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&lt;modules .. /&gt; </a:t>
            </a:r>
            <a:r>
              <a:rPr lang="en-US" sz="2800" dirty="0"/>
              <a:t>and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&lt;subprojects ../&gt; </a:t>
            </a:r>
            <a:r>
              <a:rPr lang="en-US" sz="2800" dirty="0"/>
              <a:t>are not always needed anymore</a:t>
            </a:r>
          </a:p>
          <a:p>
            <a:r>
              <a:rPr lang="en-GB" sz="2800" dirty="0"/>
              <a:t>Subprojects are automatically discovered when:</a:t>
            </a:r>
          </a:p>
          <a:p>
            <a:pPr lvl="1"/>
            <a:r>
              <a:rPr lang="en-GB" sz="2400" dirty="0"/>
              <a:t>The parent POM has </a:t>
            </a:r>
            <a:r>
              <a:rPr lang="en-GB" sz="2800" dirty="0">
                <a:latin typeface="Consolas" panose="020B0609020204030204" pitchFamily="49" charset="0"/>
                <a:cs typeface="Consolas" panose="020B0609020204030204" pitchFamily="49" charset="0"/>
              </a:rPr>
              <a:t>pom</a:t>
            </a:r>
            <a:r>
              <a:rPr lang="en-GB" sz="2400" dirty="0"/>
              <a:t> packaging</a:t>
            </a:r>
          </a:p>
          <a:p>
            <a:pPr lvl="1"/>
            <a:r>
              <a:rPr lang="en-GB" sz="2400" dirty="0"/>
              <a:t>No 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&lt;subprojects ../&gt; </a:t>
            </a:r>
            <a:r>
              <a:rPr lang="en-GB" sz="2400" dirty="0"/>
              <a:t>or 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&lt;modules ../&gt; </a:t>
            </a:r>
            <a:r>
              <a:rPr lang="en-GB" sz="2400" dirty="0"/>
              <a:t>section is explicitly defined</a:t>
            </a:r>
          </a:p>
          <a:p>
            <a:pPr lvl="1"/>
            <a:r>
              <a:rPr lang="en-GB" sz="2400" dirty="0"/>
              <a:t>Direct subdirectories contain a 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pom.xml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en-GB" sz="2400" dirty="0"/>
              <a:t>file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0525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4A48-AD7D-E8F0-DFEA-80904D1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4 - </a:t>
            </a:r>
            <a:r>
              <a:rPr lang="en-GB" dirty="0"/>
              <a:t>Full support of CI-friendly variables</a:t>
            </a:r>
            <a:br>
              <a:rPr lang="en-GB" b="1" dirty="0"/>
            </a:b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5F9FF1-4B4A-EF83-E997-818F13343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111" y="2018853"/>
            <a:ext cx="10131204" cy="33810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D43F5-9CC9-5301-E841-71217CB3E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6062382"/>
            <a:ext cx="7226300" cy="342900"/>
          </a:xfrm>
          <a:prstGeom prst="rect">
            <a:avLst/>
          </a:prstGeom>
        </p:spPr>
      </p:pic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12017940-E47D-B797-6890-75F0353D1AD4}"/>
              </a:ext>
            </a:extLst>
          </p:cNvPr>
          <p:cNvSpPr/>
          <p:nvPr/>
        </p:nvSpPr>
        <p:spPr>
          <a:xfrm rot="18126183">
            <a:off x="4487779" y="5323192"/>
            <a:ext cx="1094874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8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4007-5F98-12B6-B467-E7290446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4 - </a:t>
            </a:r>
            <a:r>
              <a:rPr lang="en-GB" dirty="0"/>
              <a:t>Reactor improvements and fixes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34C3B-261B-71A0-9918-F1497044B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2918"/>
            <a:ext cx="11035027" cy="4195481"/>
          </a:xfrm>
        </p:spPr>
        <p:txBody>
          <a:bodyPr/>
          <a:lstStyle/>
          <a:p>
            <a:r>
              <a:rPr lang="en-US" sz="2800" dirty="0"/>
              <a:t>Resuming failed builds using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M3: --resume-from (-rf) :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nameOfTheFailingSubproject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M4: --resume (-r)  </a:t>
            </a:r>
            <a:r>
              <a:rPr lang="en-US" sz="2200" i="1" dirty="0">
                <a:latin typeface="Century Gothic" panose="020B0502020202020204" pitchFamily="34" charset="0"/>
                <a:cs typeface="Consolas" panose="020B0609020204030204" pitchFamily="49" charset="0"/>
              </a:rPr>
              <a:t>(</a:t>
            </a:r>
            <a:r>
              <a:rPr lang="en-GB" sz="2200" i="1" dirty="0">
                <a:latin typeface="Century Gothic" panose="020B0502020202020204" pitchFamily="34" charset="0"/>
              </a:rPr>
              <a:t>resume a build from the subproject that last failed</a:t>
            </a:r>
            <a:r>
              <a:rPr lang="en-US" sz="2200" i="1" dirty="0">
                <a:latin typeface="Century Gothic" panose="020B0502020202020204" pitchFamily="34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--also-make 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:&lt;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nameOfTheDependentSubproject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cs typeface="Consolas" panose="020B0609020204030204" pitchFamily="49" charset="0"/>
              </a:rPr>
              <a:t>(fix for bug </a:t>
            </a:r>
            <a:r>
              <a:rPr lang="en-GB" sz="2000" dirty="0"/>
              <a:t> </a:t>
            </a:r>
            <a:r>
              <a:rPr lang="en-GB" sz="2000" dirty="0">
                <a:hlinkClick r:id="rId3"/>
              </a:rPr>
              <a:t>MNG-6863</a:t>
            </a:r>
            <a:r>
              <a:rPr lang="en-US" sz="2000" dirty="0"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062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D4A3-75E9-2085-6AF4-6034E9D0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Deployment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D80F-7CE3-9023-7276-BC12BA4B9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In </a:t>
            </a:r>
            <a:r>
              <a:rPr lang="en-GB" sz="2800" b="1" dirty="0"/>
              <a:t>Maven 3</a:t>
            </a:r>
            <a:r>
              <a:rPr lang="en-GB" sz="2800" dirty="0"/>
              <a:t> deploying a project with multiple subprojects, could end up in a partial-deployed project if any subproject build failed</a:t>
            </a:r>
          </a:p>
          <a:p>
            <a:r>
              <a:rPr lang="en-GB" sz="2800" dirty="0"/>
              <a:t>In </a:t>
            </a:r>
            <a:r>
              <a:rPr lang="en-GB" sz="2800" b="1" dirty="0"/>
              <a:t>Maven 4</a:t>
            </a:r>
            <a:r>
              <a:rPr lang="en-GB" sz="2800" dirty="0"/>
              <a:t> all subprojects </a:t>
            </a:r>
          </a:p>
          <a:p>
            <a:pPr lvl="1"/>
            <a:r>
              <a:rPr lang="en-GB" sz="2600" dirty="0"/>
              <a:t>Will be deployed is all builds pass (default value of the </a:t>
            </a:r>
            <a:r>
              <a:rPr lang="en-GB" sz="2600" dirty="0" err="1">
                <a:latin typeface="Consolas" panose="020B0609020204030204" pitchFamily="49" charset="0"/>
                <a:cs typeface="Consolas" panose="020B0609020204030204" pitchFamily="49" charset="0"/>
              </a:rPr>
              <a:t>deployAtEnd</a:t>
            </a:r>
            <a:r>
              <a:rPr lang="en-GB" sz="2600" dirty="0"/>
              <a:t> parameter is now </a:t>
            </a:r>
            <a:r>
              <a:rPr lang="en-GB" sz="2600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GB" sz="2600" dirty="0"/>
              <a:t>)</a:t>
            </a:r>
          </a:p>
          <a:p>
            <a:pPr lvl="1"/>
            <a:r>
              <a:rPr lang="en-GB" sz="2600" dirty="0"/>
              <a:t>will have consistent timestamps in their packaged archives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38707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C3BC-29D5-1E81-2029-B7EEFEB0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Workflow, lifecycle &amp; runtime changes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B74B-0F33-5731-7417-73F748FD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--fail-on-severity (-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fos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2400" dirty="0"/>
              <a:t>parameter - break the build when at least one log message matches the severity of the given argument</a:t>
            </a:r>
            <a:endParaRPr lang="en-GB" dirty="0"/>
          </a:p>
          <a:p>
            <a:pPr lvl="1"/>
            <a:r>
              <a:rPr lang="en-US" sz="2000" b="1" i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mvn</a:t>
            </a:r>
            <a:r>
              <a:rPr lang="en-US" sz="2000" b="1" i="1" dirty="0">
                <a:solidFill>
                  <a:schemeClr val="bg1"/>
                </a:solidFill>
                <a:highlight>
                  <a:srgbClr val="FFFF00"/>
                </a:highlight>
              </a:rPr>
              <a:t> clean install --fail-on-severity=ERROR </a:t>
            </a:r>
          </a:p>
          <a:p>
            <a:pPr lvl="1"/>
            <a:r>
              <a:rPr lang="en-US" sz="2000" b="1" i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mvn</a:t>
            </a:r>
            <a:r>
              <a:rPr lang="en-US" sz="2000" b="1" i="1" dirty="0">
                <a:solidFill>
                  <a:schemeClr val="bg1"/>
                </a:solidFill>
                <a:highlight>
                  <a:srgbClr val="FFFF00"/>
                </a:highlight>
              </a:rPr>
              <a:t> clean install -</a:t>
            </a:r>
            <a:r>
              <a:rPr lang="en-US" sz="2000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fos</a:t>
            </a:r>
            <a:r>
              <a:rPr lang="en-US" sz="2000" b="1" i="1" dirty="0">
                <a:solidFill>
                  <a:schemeClr val="bg1"/>
                </a:solidFill>
                <a:highlight>
                  <a:srgbClr val="FFFF00"/>
                </a:highlight>
              </a:rPr>
              <a:t> ERROR </a:t>
            </a:r>
          </a:p>
          <a:p>
            <a:r>
              <a:rPr lang="en-US" sz="2400" dirty="0"/>
              <a:t>Profiles improvements</a:t>
            </a:r>
          </a:p>
          <a:p>
            <a:pPr lvl="1"/>
            <a:r>
              <a:rPr lang="en-US" dirty="0"/>
              <a:t>Maven 3 – run a build with a non-existent profile fails</a:t>
            </a:r>
          </a:p>
          <a:p>
            <a:pPr lvl="2"/>
            <a:r>
              <a:rPr lang="en-US" dirty="0"/>
              <a:t>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compile "-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Pnope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 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Maven 4 – introduces support for non-existent profiles</a:t>
            </a:r>
          </a:p>
          <a:p>
            <a:pPr lvl="2"/>
            <a:r>
              <a:rPr lang="en-US" dirty="0"/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compile "-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P?nope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 	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312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32C0-FDBF-CCC3-6BA4-6B217EBE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Workflow, lifecycle &amp; runtime changes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244C9-6EE1-9946-1A88-F8A9462D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5275"/>
            <a:ext cx="4766148" cy="4195481"/>
          </a:xfrm>
        </p:spPr>
        <p:txBody>
          <a:bodyPr/>
          <a:lstStyle/>
          <a:p>
            <a:r>
              <a:rPr lang="en-GB" sz="2400" dirty="0"/>
              <a:t>Condition-based profile activation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3AD8C51-E013-91B5-4766-E467F356C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66" y="1954906"/>
            <a:ext cx="6807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50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E28D-76A6-8810-8E85-F75059C0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Workflow, lifecycle &amp; runtime changes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3B81E-8A4B-23F8-3D73-25D73046D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Maven 3 the lifecycle is a list of phases</a:t>
            </a:r>
          </a:p>
          <a:p>
            <a:r>
              <a:rPr lang="en-US" sz="2400" dirty="0"/>
              <a:t>In Maven 4 </a:t>
            </a:r>
          </a:p>
          <a:p>
            <a:pPr lvl="1"/>
            <a:r>
              <a:rPr lang="en-US" sz="2200" dirty="0"/>
              <a:t>the lifecycle is a tree of phases, can be enabled during execution with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–b concurrent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200" dirty="0"/>
              <a:t>we can skip phases, e.g. artifacts can be deployed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(deploy) </a:t>
            </a:r>
            <a:r>
              <a:rPr lang="en-US" sz="2200" dirty="0"/>
              <a:t>without being installed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(install)</a:t>
            </a:r>
            <a:r>
              <a:rPr lang="en-US" sz="2200" dirty="0"/>
              <a:t> to the local repository</a:t>
            </a:r>
          </a:p>
          <a:p>
            <a:pPr lvl="1"/>
            <a:r>
              <a:rPr lang="en-GB" sz="2200" dirty="0"/>
              <a:t>every lifecycle phase now has a 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before:</a:t>
            </a:r>
            <a:r>
              <a:rPr lang="en-GB" sz="2200" dirty="0"/>
              <a:t> and an </a:t>
            </a:r>
            <a:r>
              <a:rPr lang="en-GB" sz="2200" dirty="0">
                <a:latin typeface="Consolas" panose="020B0609020204030204" pitchFamily="49" charset="0"/>
                <a:cs typeface="Consolas" panose="020B0609020204030204" pitchFamily="49" charset="0"/>
              </a:rPr>
              <a:t>after: </a:t>
            </a:r>
            <a:r>
              <a:rPr lang="en-GB" sz="2200" dirty="0"/>
              <a:t>phase</a:t>
            </a:r>
          </a:p>
          <a:p>
            <a:pPr lvl="1"/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 pre-* </a:t>
            </a:r>
            <a:r>
              <a:rPr lang="en-GB" sz="2200" dirty="0"/>
              <a:t>and 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post-*</a:t>
            </a:r>
            <a:r>
              <a:rPr lang="en-GB" sz="2200" dirty="0"/>
              <a:t> phases,  are now deprecated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89673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3918-E15C-26BB-3351-C97448AE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Workflow, lifecycle &amp; runtime changes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EEE95-9110-5D8A-48C7-61FC9C25E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307370" cy="4195481"/>
          </a:xfrm>
        </p:spPr>
        <p:txBody>
          <a:bodyPr>
            <a:normAutofit/>
          </a:bodyPr>
          <a:lstStyle/>
          <a:p>
            <a:r>
              <a:rPr lang="en-US" sz="2400" dirty="0"/>
              <a:t>In Maven 3 plugins that bind to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post-*</a:t>
            </a:r>
            <a:r>
              <a:rPr lang="en-US" sz="2400" dirty="0"/>
              <a:t> phases do not execute when the major phase is executed</a:t>
            </a:r>
          </a:p>
          <a:p>
            <a:r>
              <a:rPr lang="en-US" sz="2400" dirty="0"/>
              <a:t>In Maven 4 plugins that bind to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after-*</a:t>
            </a:r>
            <a:r>
              <a:rPr lang="en-US" sz="2400" dirty="0"/>
              <a:t> phases do execute, because the executing the major phase includes the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after-*</a:t>
            </a:r>
          </a:p>
          <a:p>
            <a:r>
              <a:rPr lang="en-US" sz="2400" dirty="0">
                <a:cs typeface="Consolas" panose="020B0609020204030204" pitchFamily="49" charset="0"/>
              </a:rPr>
              <a:t>Introduction of new phases </a:t>
            </a:r>
          </a:p>
          <a:p>
            <a:pPr lvl="1"/>
            <a:r>
              <a:rPr lang="en-US" sz="2200" b="1" dirty="0">
                <a:cs typeface="Consolas" panose="020B0609020204030204" pitchFamily="49" charset="0"/>
              </a:rPr>
              <a:t>all - </a:t>
            </a:r>
            <a:r>
              <a:rPr lang="en-GB" dirty="0"/>
              <a:t>wraps the standard lifecycle phases (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validate</a:t>
            </a:r>
            <a:r>
              <a:rPr lang="en-GB" dirty="0"/>
              <a:t>,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 compile, test</a:t>
            </a:r>
            <a:r>
              <a:rPr lang="en-GB" dirty="0"/>
              <a:t>, etc.) </a:t>
            </a:r>
            <a:endParaRPr lang="en-US" sz="2200" b="1" dirty="0">
              <a:cs typeface="Consolas" panose="020B0609020204030204" pitchFamily="49" charset="0"/>
            </a:endParaRPr>
          </a:p>
          <a:p>
            <a:pPr lvl="1"/>
            <a:r>
              <a:rPr lang="en-US" sz="2200" b="1" dirty="0">
                <a:cs typeface="Consolas" panose="020B0609020204030204" pitchFamily="49" charset="0"/>
              </a:rPr>
              <a:t>each - </a:t>
            </a:r>
            <a:r>
              <a:rPr lang="en-GB" dirty="0"/>
              <a:t>encompasses the entire build of a project</a:t>
            </a:r>
          </a:p>
          <a:p>
            <a:r>
              <a:rPr lang="en-GB" sz="2400" dirty="0">
                <a:cs typeface="Consolas" panose="020B0609020204030204" pitchFamily="49" charset="0"/>
              </a:rPr>
              <a:t>Thus, we can have 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before:all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after:all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before:each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cs typeface="Consolas" panose="020B0609020204030204" pitchFamily="49" charset="0"/>
              </a:rPr>
              <a:t>and </a:t>
            </a:r>
            <a:r>
              <a:rPr lang="en-GB" sz="2400" b="1" dirty="0" err="1">
                <a:cs typeface="Consolas" panose="020B0609020204030204" pitchFamily="49" charset="0"/>
              </a:rPr>
              <a:t>after:each</a:t>
            </a:r>
            <a:endParaRPr lang="en-US" sz="2400" b="1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8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DCE3-3328-EB67-A98A-69BFB5EC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2B30-CF3C-B4B7-24C7-F239FBF8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Performance Boosts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CD5A-CB71-D91F-8546-391435CD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22738"/>
            <a:ext cx="10507974" cy="4625661"/>
          </a:xfrm>
        </p:spPr>
        <p:txBody>
          <a:bodyPr>
            <a:normAutofit/>
          </a:bodyPr>
          <a:lstStyle/>
          <a:p>
            <a:r>
              <a:rPr lang="en-GB" sz="2800" dirty="0">
                <a:cs typeface="Consolas" panose="020B0609020204030204" pitchFamily="49" charset="0"/>
              </a:rPr>
              <a:t>Faster build times especially for large multi-module projects</a:t>
            </a:r>
          </a:p>
          <a:p>
            <a:pPr lvl="1"/>
            <a:r>
              <a:rPr lang="en-GB" sz="2400" dirty="0">
                <a:cs typeface="Consolas" panose="020B0609020204030204" pitchFamily="49" charset="0"/>
              </a:rPr>
              <a:t>Improved dependency resolution</a:t>
            </a:r>
          </a:p>
          <a:p>
            <a:pPr lvl="1"/>
            <a:r>
              <a:rPr lang="en-GB" sz="2400" dirty="0">
                <a:cs typeface="Consolas" panose="020B0609020204030204" pitchFamily="49" charset="0"/>
              </a:rPr>
              <a:t>Parallel build enhancements (better use of multi-core processors)</a:t>
            </a:r>
          </a:p>
          <a:p>
            <a:pPr lvl="1"/>
            <a:r>
              <a:rPr lang="en-GB" sz="2400" dirty="0">
                <a:cs typeface="Consolas" panose="020B0609020204030204" pitchFamily="49" charset="0"/>
              </a:rPr>
              <a:t>Reduced memory consumption</a:t>
            </a:r>
          </a:p>
          <a:p>
            <a:pPr lvl="1"/>
            <a:r>
              <a:rPr lang="en-GB" sz="2400" dirty="0">
                <a:cs typeface="Consolas" panose="020B0609020204030204" pitchFamily="49" charset="0"/>
              </a:rPr>
              <a:t>Incremental build improvements</a:t>
            </a:r>
          </a:p>
        </p:txBody>
      </p:sp>
    </p:spTree>
    <p:extLst>
      <p:ext uri="{BB962C8B-B14F-4D97-AF65-F5344CB8AC3E}">
        <p14:creationId xmlns:p14="http://schemas.microsoft.com/office/powerpoint/2010/main" val="3652527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06B6-2C92-9C77-738D-2D8FD902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4 – API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60F5-11C3-E3DE-892D-EBB145418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22738"/>
            <a:ext cx="10507974" cy="4625661"/>
          </a:xfrm>
        </p:spPr>
        <p:txBody>
          <a:bodyPr>
            <a:normAutofit/>
          </a:bodyPr>
          <a:lstStyle/>
          <a:p>
            <a:r>
              <a:rPr lang="en-GB" sz="2400" dirty="0"/>
              <a:t>Significant code and API updates, make really old plugins incompatible</a:t>
            </a:r>
          </a:p>
          <a:p>
            <a:r>
              <a:rPr lang="en-GB" sz="2400" dirty="0"/>
              <a:t>Improved encryption through the </a:t>
            </a:r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mvenc</a:t>
            </a:r>
            <a:r>
              <a:rPr lang="en-GB" sz="2400" dirty="0"/>
              <a:t> CLI</a:t>
            </a:r>
          </a:p>
          <a:p>
            <a:r>
              <a:rPr lang="en-GB" sz="2400" dirty="0"/>
              <a:t>Maven Artifact Resolver is now based on the Java HTTP client</a:t>
            </a:r>
          </a:p>
          <a:p>
            <a:r>
              <a:rPr lang="en-GB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mvnd</a:t>
            </a:r>
            <a:r>
              <a:rPr lang="en-GB" sz="2400" dirty="0"/>
              <a:t> </a:t>
            </a:r>
            <a:r>
              <a:rPr lang="en-GB" dirty="0"/>
              <a:t>manages a pool of resident Maven processes, to speed up Maven build</a:t>
            </a:r>
            <a:r>
              <a:rPr lang="en-US" sz="2400" dirty="0"/>
              <a:t>s</a:t>
            </a:r>
          </a:p>
          <a:p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mvnsh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/>
              <a:t>keeps a single Maven process running for as long as the shell remains open</a:t>
            </a:r>
          </a:p>
          <a:p>
            <a:r>
              <a:rPr lang="en-GB" b="1" dirty="0">
                <a:hlinkClick r:id="rId3"/>
              </a:rPr>
              <a:t>Maven Upgrade Tool</a:t>
            </a:r>
            <a:r>
              <a:rPr lang="en-GB" b="1" dirty="0"/>
              <a:t> </a:t>
            </a:r>
            <a:r>
              <a:rPr lang="en-GB" dirty="0"/>
              <a:t>: helps automate the migration to Maven 4  process</a:t>
            </a:r>
          </a:p>
          <a:p>
            <a:r>
              <a:rPr lang="en-GB" b="1" dirty="0">
                <a:cs typeface="Consolas" panose="020B0609020204030204" pitchFamily="49" charset="0"/>
                <a:hlinkClick r:id="rId4"/>
              </a:rPr>
              <a:t>A lot of bugfixes</a:t>
            </a:r>
            <a:endParaRPr lang="en-GB" b="1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755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D459-104E-D21A-CA4B-58CE7ED9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3CC6-7793-6C33-07D9-6B9190CE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Daemon 2.0.0-rc3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B1348-39CF-E3E3-58D6-7A3987D66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22738"/>
            <a:ext cx="10507974" cy="4625661"/>
          </a:xfrm>
        </p:spPr>
        <p:txBody>
          <a:bodyPr>
            <a:normAutofit/>
          </a:bodyPr>
          <a:lstStyle/>
          <a:p>
            <a:r>
              <a:rPr lang="en-GB" sz="2400" dirty="0">
                <a:cs typeface="Consolas" panose="020B0609020204030204" pitchFamily="49" charset="0"/>
              </a:rPr>
              <a:t>Every </a:t>
            </a:r>
            <a:r>
              <a:rPr lang="en-GB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GB" sz="2400" dirty="0">
                <a:cs typeface="Consolas" panose="020B0609020204030204" pitchFamily="49" charset="0"/>
              </a:rPr>
              <a:t> command triggers the following:</a:t>
            </a:r>
          </a:p>
          <a:p>
            <a:pPr lvl="1"/>
            <a:r>
              <a:rPr lang="en-GB" sz="2000" dirty="0">
                <a:cs typeface="Consolas" panose="020B0609020204030204" pitchFamily="49" charset="0"/>
              </a:rPr>
              <a:t>Booting Java</a:t>
            </a:r>
          </a:p>
          <a:p>
            <a:pPr lvl="1"/>
            <a:r>
              <a:rPr lang="en-GB" sz="2000" dirty="0">
                <a:cs typeface="Consolas" panose="020B0609020204030204" pitchFamily="49" charset="0"/>
              </a:rPr>
              <a:t>Starting Maven</a:t>
            </a:r>
          </a:p>
          <a:p>
            <a:pPr lvl="1"/>
            <a:r>
              <a:rPr lang="en-GB" sz="2000" dirty="0">
                <a:cs typeface="Consolas" panose="020B0609020204030204" pitchFamily="49" charset="0"/>
              </a:rPr>
              <a:t>Perform the task (execute the goals)</a:t>
            </a:r>
          </a:p>
          <a:p>
            <a:pPr lvl="1"/>
            <a:r>
              <a:rPr lang="en-GB" sz="2000" dirty="0">
                <a:cs typeface="Consolas" panose="020B0609020204030204" pitchFamily="49" charset="0"/>
              </a:rPr>
              <a:t>Tear down</a:t>
            </a:r>
          </a:p>
          <a:p>
            <a:pPr lvl="1"/>
            <a:r>
              <a:rPr lang="en-GB" sz="2000" dirty="0">
                <a:cs typeface="Consolas" panose="020B0609020204030204" pitchFamily="49" charset="0"/>
              </a:rPr>
              <a:t>Exit </a:t>
            </a:r>
          </a:p>
          <a:p>
            <a:r>
              <a:rPr lang="en-GB" sz="2200" dirty="0">
                <a:cs typeface="Consolas" panose="020B0609020204030204" pitchFamily="49" charset="0"/>
              </a:rPr>
              <a:t>Enter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mvnd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cs typeface="Consolas" panose="020B0609020204030204" pitchFamily="49" charset="0"/>
              </a:rPr>
              <a:t>which manages a pool of resident Maven processes</a:t>
            </a:r>
          </a:p>
          <a:p>
            <a:pPr lvl="1"/>
            <a:r>
              <a:rPr lang="en-GB" dirty="0">
                <a:cs typeface="Consolas" panose="020B0609020204030204" pitchFamily="49" charset="0"/>
              </a:rPr>
              <a:t>Improve performance</a:t>
            </a:r>
          </a:p>
          <a:p>
            <a:pPr lvl="1"/>
            <a:r>
              <a:rPr lang="en-GB" dirty="0">
                <a:cs typeface="Consolas" panose="020B0609020204030204" pitchFamily="49" charset="0"/>
              </a:rPr>
              <a:t>Reduces build times</a:t>
            </a:r>
            <a:endParaRPr lang="en-GB" sz="2200" dirty="0">
              <a:cs typeface="Consolas" panose="020B0609020204030204" pitchFamily="49" charset="0"/>
            </a:endParaRPr>
          </a:p>
          <a:p>
            <a:endParaRPr lang="en-GB" b="1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805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98C3E-1710-4828-5FAC-76ECF8D5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C1D5D-033A-AA3C-861C-8E4038BC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Java 25 – What’s awesome</a:t>
            </a:r>
          </a:p>
        </p:txBody>
      </p:sp>
      <p:sp>
        <p:nvSpPr>
          <p:cNvPr id="4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" name="Content Placeholder 16" descr="A cartoon of a white and black character with red eye and black triangle&#10;&#10;AI-generated content may be incorrect.">
            <a:extLst>
              <a:ext uri="{FF2B5EF4-FFF2-40B4-BE49-F238E27FC236}">
                <a16:creationId xmlns:a16="http://schemas.microsoft.com/office/drawing/2014/main" id="{C4C1FE7B-146C-FD85-322F-D221F3715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998115" y="647698"/>
            <a:ext cx="5562139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33850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76BF-72FA-0CD5-F4A5-E79EF016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CAB-50DD-CD7D-D82C-FB9A6881A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Released on 16</a:t>
            </a:r>
            <a:r>
              <a:rPr lang="en-US" sz="2800" baseline="30000" dirty="0"/>
              <a:t>th</a:t>
            </a:r>
            <a:r>
              <a:rPr lang="en-US" sz="2800" dirty="0"/>
              <a:t> of September 2025</a:t>
            </a:r>
          </a:p>
          <a:p>
            <a:pPr lvl="1"/>
            <a:r>
              <a:rPr lang="en-US" sz="2600" dirty="0"/>
              <a:t>12 finalized features (1 deprecation)</a:t>
            </a:r>
            <a:endParaRPr lang="en-US" sz="2400" dirty="0"/>
          </a:p>
          <a:p>
            <a:pPr lvl="1"/>
            <a:r>
              <a:rPr lang="en-US" sz="2600" dirty="0"/>
              <a:t>4 previews</a:t>
            </a:r>
          </a:p>
          <a:p>
            <a:pPr lvl="1"/>
            <a:r>
              <a:rPr lang="en-US" sz="2600" dirty="0"/>
              <a:t>1 incubator (the 10!! for Vector API)</a:t>
            </a:r>
          </a:p>
          <a:p>
            <a:pPr lvl="1"/>
            <a:r>
              <a:rPr lang="en-US" sz="2600" dirty="0"/>
              <a:t>1 experimental (JDK Flight Recorder Improvements for CPU-time profiling on Linux )</a:t>
            </a:r>
          </a:p>
          <a:p>
            <a:pPr lvl="1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73818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7622A-710B-5541-93E4-F68EB58A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9A6E4-A6C8-8CB7-624A-265446A0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Syntax Sugar (mostly)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08F2-70CE-4422-5EA9-DE80EEC4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8788" y="2286162"/>
            <a:ext cx="6941713" cy="3853215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JEP506: Scoped Values</a:t>
            </a:r>
          </a:p>
          <a:p>
            <a:pPr lvl="1"/>
            <a:r>
              <a:rPr lang="en-US" sz="2000" dirty="0"/>
              <a:t>JEP511: Module Import Declarations</a:t>
            </a:r>
          </a:p>
          <a:p>
            <a:pPr lvl="1"/>
            <a:r>
              <a:rPr lang="en-US" sz="2000" dirty="0"/>
              <a:t>JEP512: Compact Source Files and Instance Main Methods</a:t>
            </a:r>
          </a:p>
          <a:p>
            <a:pPr lvl="1"/>
            <a:r>
              <a:rPr lang="en-US" sz="2000" dirty="0"/>
              <a:t>JEP513: Flexible Constructor Bodies</a:t>
            </a:r>
          </a:p>
          <a:p>
            <a:pPr lvl="1"/>
            <a:r>
              <a:rPr lang="en-US" sz="2000" dirty="0"/>
              <a:t>JEP502: Stable Values(Preview)</a:t>
            </a:r>
          </a:p>
          <a:p>
            <a:pPr lvl="1"/>
            <a:r>
              <a:rPr lang="en-US" sz="2000" dirty="0"/>
              <a:t>JEP507: Primitive Types in Patterns, </a:t>
            </a:r>
            <a:r>
              <a:rPr lang="en-US" sz="2000" dirty="0" err="1"/>
              <a:t>instanceOf</a:t>
            </a:r>
            <a:r>
              <a:rPr lang="en-US" sz="2000" dirty="0"/>
              <a:t> and switch(3</a:t>
            </a:r>
            <a:r>
              <a:rPr lang="en-US" sz="2000" baseline="30000" dirty="0"/>
              <a:t>rd</a:t>
            </a:r>
            <a:r>
              <a:rPr lang="en-US" sz="2000" dirty="0"/>
              <a:t> Preview)</a:t>
            </a:r>
          </a:p>
          <a:p>
            <a:pPr lvl="1"/>
            <a:r>
              <a:rPr lang="en-US" sz="2000" dirty="0"/>
              <a:t>JEP505: Structured Concurrency (5</a:t>
            </a:r>
            <a:r>
              <a:rPr lang="en-US" sz="2000" baseline="30000" dirty="0"/>
              <a:t>th</a:t>
            </a:r>
            <a:r>
              <a:rPr lang="en-US" sz="2000" dirty="0"/>
              <a:t> Preview)</a:t>
            </a:r>
          </a:p>
        </p:txBody>
      </p:sp>
      <p:pic>
        <p:nvPicPr>
          <p:cNvPr id="5" name="Picture 4" descr="Close-up of white and gold sugar cubes&#10;&#10;AI-generated content may be incorrect.">
            <a:extLst>
              <a:ext uri="{FF2B5EF4-FFF2-40B4-BE49-F238E27FC236}">
                <a16:creationId xmlns:a16="http://schemas.microsoft.com/office/drawing/2014/main" id="{F1A4FB2C-58E5-58C7-9943-01251F4D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679" y="3099002"/>
            <a:ext cx="5335926" cy="229876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8113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53F4-A25C-631F-02B1-1EB2E37A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C9FA-B48D-95B3-7B1E-CED03236D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A335B-9202-DC27-FE8C-11D42E83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2247574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D755-B15E-6154-73BE-EDCE7C87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B9FC-9502-9AE4-8A81-5B03937A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Import Declarations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608D4-D424-A97C-82D4-663203346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829147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0C14-A451-B252-A163-2BDD6DC0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3959-A408-64F4-ADEF-7CF10097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72897" cy="1400530"/>
          </a:xfrm>
        </p:spPr>
        <p:txBody>
          <a:bodyPr/>
          <a:lstStyle/>
          <a:p>
            <a:r>
              <a:rPr lang="en-US" dirty="0"/>
              <a:t>Compact Source Files and Instance Main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5D1CB-D741-D237-031E-25DFA7E6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747" y="2209801"/>
            <a:ext cx="8946541" cy="4195481"/>
          </a:xfrm>
        </p:spPr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30059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F8CB-47FE-219F-F67D-A16D0845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A8EC-7C90-1795-840C-97E417AB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Constructor Bodies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CF7D-AC17-B663-DC65-101E44A7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3557907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9A6B-3FFB-420C-3B97-4A3E4A95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976C-3AE6-4F10-3725-0D93D06A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6989"/>
          </a:xfrm>
        </p:spPr>
        <p:txBody>
          <a:bodyPr/>
          <a:lstStyle/>
          <a:p>
            <a:r>
              <a:rPr lang="en-US" dirty="0"/>
              <a:t>Stable Values (Preview)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691FF-5C95-1E72-013E-E9E9E0A41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2735214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28AEB-7B3E-A218-D39C-AB3B0E5D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3A5D-3526-ED1D-5DB7-DE72E1BF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745" cy="1324567"/>
          </a:xfrm>
        </p:spPr>
        <p:txBody>
          <a:bodyPr/>
          <a:lstStyle/>
          <a:p>
            <a:r>
              <a:rPr lang="en-US" dirty="0"/>
              <a:t>Primitive Types in patterns, </a:t>
            </a:r>
            <a:r>
              <a:rPr lang="en-US" dirty="0" err="1"/>
              <a:t>instanceOf</a:t>
            </a:r>
            <a:r>
              <a:rPr lang="en-US" dirty="0"/>
              <a:t> and switch (3d Preview)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F413-7DA5-1C2B-1BD2-1825CA76D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3248397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3B0D-47CD-1B36-D29F-6A90009A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78AF-F2B3-6927-447A-C0AEF85F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63050" cy="1066989"/>
          </a:xfrm>
        </p:spPr>
        <p:txBody>
          <a:bodyPr/>
          <a:lstStyle/>
          <a:p>
            <a:r>
              <a:rPr lang="en-US" dirty="0"/>
              <a:t>Structured Concurrency(5</a:t>
            </a:r>
            <a:r>
              <a:rPr lang="en-US" baseline="30000" dirty="0"/>
              <a:t>th</a:t>
            </a:r>
            <a:r>
              <a:rPr lang="en-US" dirty="0"/>
              <a:t> Preview)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2F815-B73C-7AB1-BF76-25C476737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600" dirty="0"/>
              <a:t># TODO</a:t>
            </a:r>
          </a:p>
        </p:txBody>
      </p:sp>
    </p:spTree>
    <p:extLst>
      <p:ext uri="{BB962C8B-B14F-4D97-AF65-F5344CB8AC3E}">
        <p14:creationId xmlns:p14="http://schemas.microsoft.com/office/powerpoint/2010/main" val="2052983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DC98E-EFC7-DCB2-AAD1-9B9BAE67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B07AC-84A6-2AB9-06D3-39D2FD0E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900" dirty="0">
                <a:solidFill>
                  <a:srgbClr val="EBEBEB"/>
                </a:solidFill>
              </a:rPr>
              <a:t>Optimizations &amp; Monitoring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2B7B-3F11-E1C1-EFC5-7D41D5F8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76" y="2548281"/>
            <a:ext cx="7108719" cy="3658689"/>
          </a:xfrm>
        </p:spPr>
        <p:txBody>
          <a:bodyPr>
            <a:noAutofit/>
          </a:bodyPr>
          <a:lstStyle/>
          <a:p>
            <a:pPr lvl="1"/>
            <a:r>
              <a:rPr lang="en-US" sz="2000" dirty="0"/>
              <a:t>JEP514: Ahead-of-Time Command-Line Ergonomics</a:t>
            </a:r>
          </a:p>
          <a:p>
            <a:pPr lvl="1"/>
            <a:r>
              <a:rPr lang="en-US" sz="2000" dirty="0"/>
              <a:t>JEP515: Ahead-of-Time Method Profiling</a:t>
            </a:r>
          </a:p>
          <a:p>
            <a:pPr lvl="1"/>
            <a:r>
              <a:rPr lang="en-US" sz="2000" dirty="0"/>
              <a:t>JEP519: Compact Object Headers</a:t>
            </a:r>
          </a:p>
          <a:p>
            <a:pPr lvl="1"/>
            <a:r>
              <a:rPr lang="en-US" sz="2000" dirty="0"/>
              <a:t>JEP521: Generational Shenandoah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JEP518: JFR Cooperative Sampling</a:t>
            </a:r>
          </a:p>
          <a:p>
            <a:pPr lvl="1"/>
            <a:r>
              <a:rPr lang="en-US" sz="2000" dirty="0"/>
              <a:t>JEP520: JFR Method Timing &amp; Tracing</a:t>
            </a:r>
          </a:p>
          <a:p>
            <a:pPr lvl="1"/>
            <a:r>
              <a:rPr lang="en-US" sz="2000" dirty="0"/>
              <a:t>JEP509: JFR CPU-Time Profiling (Experimental)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5" name="Picture 4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BFE00188-1B83-DFF8-0D29-5E607E73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533" y="2905067"/>
            <a:ext cx="4127920" cy="30426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29171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7A7D9-1FB2-811F-DEE3-30687E5F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D3F11-6B95-581D-142C-F7B81190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Cryptography and Computations</a:t>
            </a: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05307-3630-68F0-E1BC-690570E9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910" y="2548281"/>
            <a:ext cx="5451627" cy="3658689"/>
          </a:xfrm>
        </p:spPr>
        <p:txBody>
          <a:bodyPr>
            <a:normAutofit/>
          </a:bodyPr>
          <a:lstStyle/>
          <a:p>
            <a:pPr lvl="1"/>
            <a:r>
              <a:rPr lang="en-US" sz="2200" dirty="0"/>
              <a:t>JEP508: Vector API (10</a:t>
            </a:r>
            <a:r>
              <a:rPr lang="en-US" sz="2200" baseline="30000" dirty="0"/>
              <a:t>th</a:t>
            </a:r>
            <a:r>
              <a:rPr lang="en-US" sz="2200" dirty="0"/>
              <a:t> Incubator)</a:t>
            </a:r>
          </a:p>
          <a:p>
            <a:pPr lvl="1"/>
            <a:r>
              <a:rPr lang="en-US" sz="2200" dirty="0"/>
              <a:t>JEP470: </a:t>
            </a:r>
            <a:r>
              <a:rPr lang="en-GB" sz="2200" dirty="0"/>
              <a:t>PEM Encodings of Cryptographic Objects (Preview)</a:t>
            </a:r>
            <a:endParaRPr lang="en-US" sz="2200" dirty="0"/>
          </a:p>
          <a:p>
            <a:pPr lvl="1"/>
            <a:r>
              <a:rPr lang="en-US" sz="2200" dirty="0"/>
              <a:t>JEP510: </a:t>
            </a:r>
            <a:r>
              <a:rPr lang="en-GB" sz="2200" dirty="0"/>
              <a:t>Key Derivation Function API</a:t>
            </a:r>
            <a:endParaRPr lang="en-US" sz="2200" dirty="0"/>
          </a:p>
          <a:p>
            <a:pPr lvl="1"/>
            <a:endParaRPr lang="en-US" sz="1700" dirty="0"/>
          </a:p>
        </p:txBody>
      </p:sp>
      <p:pic>
        <p:nvPicPr>
          <p:cNvPr id="6" name="Picture 5" descr="A black background with white lines and a grid&#10;&#10;AI-generated content may be incorrect.">
            <a:extLst>
              <a:ext uri="{FF2B5EF4-FFF2-40B4-BE49-F238E27FC236}">
                <a16:creationId xmlns:a16="http://schemas.microsoft.com/office/drawing/2014/main" id="{BBE0B938-651A-266C-082F-637E6FC63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955" y="2905067"/>
            <a:ext cx="5451627" cy="298476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97052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4E06D-E8F2-F365-AC0C-FF278698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Spring 7 – What’s cool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green circle with a leaf&#10;&#10;AI-generated content may be incorrect.">
            <a:extLst>
              <a:ext uri="{FF2B5EF4-FFF2-40B4-BE49-F238E27FC236}">
                <a16:creationId xmlns:a16="http://schemas.microsoft.com/office/drawing/2014/main" id="{2855571C-514F-ED67-12CD-DE66F6FE3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98115" y="647698"/>
            <a:ext cx="5562139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45810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0888-59A4-3A97-EF04-F5F640FE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22E91-0948-284A-5D51-F5FDC033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#TODO</a:t>
            </a:r>
          </a:p>
        </p:txBody>
      </p:sp>
    </p:spTree>
    <p:extLst>
      <p:ext uri="{BB962C8B-B14F-4D97-AF65-F5344CB8AC3E}">
        <p14:creationId xmlns:p14="http://schemas.microsoft.com/office/powerpoint/2010/main" val="2899600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6C48-3D5B-B8F0-C46C-33E81B4D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20773" cy="1400530"/>
          </a:xfrm>
        </p:spPr>
        <p:txBody>
          <a:bodyPr/>
          <a:lstStyle/>
          <a:p>
            <a:r>
              <a:rPr lang="en-US" dirty="0"/>
              <a:t>References - </a:t>
            </a:r>
            <a:r>
              <a:rPr lang="en-US" sz="4400" dirty="0"/>
              <a:t>Maven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A1DA-6E97-7686-69B6-CCCF1EBAB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68192"/>
            <a:ext cx="11120773" cy="478020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hlinkClick r:id="rId2"/>
              </a:rPr>
              <a:t>https://maven.apache.org/whatsnewinmaven4.html</a:t>
            </a:r>
            <a:endParaRPr lang="en-US" sz="2800" dirty="0"/>
          </a:p>
          <a:p>
            <a:r>
              <a:rPr lang="en-US" sz="2800" dirty="0">
                <a:hlinkClick r:id="rId3"/>
              </a:rPr>
              <a:t>https://maarten.mulders.it/2021/03/introduction-to-maven-toolchains</a:t>
            </a:r>
            <a:endParaRPr lang="en-US" sz="2800" dirty="0"/>
          </a:p>
          <a:p>
            <a:r>
              <a:rPr lang="en-GB" sz="2800" dirty="0">
                <a:hlinkClick r:id="rId4"/>
              </a:rPr>
              <a:t>https://ant.apache.org</a:t>
            </a:r>
            <a:r>
              <a:rPr lang="en-GB" sz="2800" dirty="0"/>
              <a:t> </a:t>
            </a:r>
          </a:p>
          <a:p>
            <a:r>
              <a:rPr lang="en-GB" sz="2800" dirty="0">
                <a:hlinkClick r:id="rId5"/>
              </a:rPr>
              <a:t>https://gradle.org</a:t>
            </a:r>
            <a:r>
              <a:rPr lang="en-GB" sz="2800" dirty="0"/>
              <a:t> </a:t>
            </a:r>
          </a:p>
          <a:p>
            <a:r>
              <a:rPr lang="en-GB" sz="2800" dirty="0"/>
              <a:t> </a:t>
            </a:r>
            <a:r>
              <a:rPr lang="en-GB" sz="2800" dirty="0">
                <a:hlinkClick r:id="rId6"/>
              </a:rPr>
              <a:t>https://github.com/bazelbuild</a:t>
            </a:r>
            <a:r>
              <a:rPr lang="en-GB" sz="2800" dirty="0"/>
              <a:t> </a:t>
            </a:r>
          </a:p>
          <a:p>
            <a:r>
              <a:rPr lang="en-GB" sz="2800" dirty="0">
                <a:hlinkClick r:id="rId7"/>
              </a:rPr>
              <a:t>https://cstamas.org/blog/2024/09/handling-sensitive-data-in-maven</a:t>
            </a:r>
            <a:r>
              <a:rPr lang="en-GB" sz="2800" dirty="0"/>
              <a:t> </a:t>
            </a:r>
          </a:p>
          <a:p>
            <a:r>
              <a:rPr lang="en-GB" sz="2800" dirty="0">
                <a:hlinkClick r:id="rId8"/>
              </a:rPr>
              <a:t>https://github.com/apache/maven-mvnd</a:t>
            </a:r>
            <a:r>
              <a:rPr lang="en-GB" sz="2800" dirty="0"/>
              <a:t> </a:t>
            </a:r>
          </a:p>
          <a:p>
            <a:r>
              <a:rPr lang="en-GB" sz="2800" dirty="0">
                <a:hlinkClick r:id="rId9"/>
              </a:rPr>
              <a:t>https://maven.apache.org/tools/mvnsh.html</a:t>
            </a:r>
            <a:r>
              <a:rPr lang="en-GB" sz="2800" dirty="0"/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02544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24A6-C557-707D-C9B9-D21FC4BA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1967-5633-0280-6723-25B06572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20773" cy="1400530"/>
          </a:xfrm>
        </p:spPr>
        <p:txBody>
          <a:bodyPr/>
          <a:lstStyle/>
          <a:p>
            <a:r>
              <a:rPr lang="en-US" dirty="0"/>
              <a:t>References – </a:t>
            </a:r>
            <a:r>
              <a:rPr lang="en-US" sz="4400" dirty="0"/>
              <a:t>Java 25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20CBC-0F88-C4B8-30E6-0D49A160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2918"/>
            <a:ext cx="11120773" cy="4195481"/>
          </a:xfrm>
        </p:spPr>
        <p:txBody>
          <a:bodyPr>
            <a:normAutofit/>
          </a:bodyPr>
          <a:lstStyle/>
          <a:p>
            <a:r>
              <a:rPr lang="en-US" sz="2800" dirty="0"/>
              <a:t>#TODO</a:t>
            </a:r>
          </a:p>
        </p:txBody>
      </p:sp>
    </p:spTree>
    <p:extLst>
      <p:ext uri="{BB962C8B-B14F-4D97-AF65-F5344CB8AC3E}">
        <p14:creationId xmlns:p14="http://schemas.microsoft.com/office/powerpoint/2010/main" val="3699027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6E9B-6C86-0DEA-2BCC-7BC2BD3E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D810-DB78-2899-6611-F9EFB037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20773" cy="1400530"/>
          </a:xfrm>
        </p:spPr>
        <p:txBody>
          <a:bodyPr/>
          <a:lstStyle/>
          <a:p>
            <a:r>
              <a:rPr lang="en-US" dirty="0"/>
              <a:t>References – </a:t>
            </a:r>
            <a:r>
              <a:rPr lang="en-US" sz="4400" dirty="0"/>
              <a:t>Spring 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802F-97DE-CB37-5DF0-438E04C8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2918"/>
            <a:ext cx="11120773" cy="4195481"/>
          </a:xfrm>
        </p:spPr>
        <p:txBody>
          <a:bodyPr>
            <a:normAutofit/>
          </a:bodyPr>
          <a:lstStyle/>
          <a:p>
            <a:r>
              <a:rPr lang="en-US" sz="2800" dirty="0"/>
              <a:t>#TODO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1547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5952</TotalTime>
  <Words>1886</Words>
  <Application>Microsoft Macintosh PowerPoint</Application>
  <PresentationFormat>Widescreen</PresentationFormat>
  <Paragraphs>248</Paragraphs>
  <Slides>42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Century Gothic</vt:lpstr>
      <vt:lpstr>Consolas</vt:lpstr>
      <vt:lpstr>Lato</vt:lpstr>
      <vt:lpstr>Wingdings</vt:lpstr>
      <vt:lpstr>Wingdings 3</vt:lpstr>
      <vt:lpstr>Ion</vt:lpstr>
      <vt:lpstr>Introducing: Maven 4,   Java 25 &amp;  Spring 7</vt:lpstr>
      <vt:lpstr>Agenda</vt:lpstr>
      <vt:lpstr>Maven 4 - what’s new </vt:lpstr>
      <vt:lpstr>Maven – General things</vt:lpstr>
      <vt:lpstr>Maven 4  – JDK changes</vt:lpstr>
      <vt:lpstr>Maven 4 – POM changes</vt:lpstr>
      <vt:lpstr>Maven 4 - Extensions</vt:lpstr>
      <vt:lpstr>Maven 4 – Schema Updates (1)</vt:lpstr>
      <vt:lpstr>Maven 4 – Schema Updates (2)</vt:lpstr>
      <vt:lpstr>Maven 4 – Schema Updates (3)</vt:lpstr>
      <vt:lpstr>Maven 4 – Schema Updates (4)</vt:lpstr>
      <vt:lpstr>Maven 4 – Schema Updates (5)</vt:lpstr>
      <vt:lpstr>Maven 4 - Schema Updates (6)</vt:lpstr>
      <vt:lpstr>Maven 4 – Automatic Versioning &amp; Parent inference</vt:lpstr>
      <vt:lpstr>Maven 4 – Subprojects discovery</vt:lpstr>
      <vt:lpstr>Maven 4 - Full support of CI-friendly variables </vt:lpstr>
      <vt:lpstr>Maven 4 - Reactor improvements and fixes </vt:lpstr>
      <vt:lpstr>Maven 4 – Deployment Improvements </vt:lpstr>
      <vt:lpstr>Maven 4 – Workflow, lifecycle &amp; runtime changes (1)</vt:lpstr>
      <vt:lpstr>Maven 4 – Workflow, lifecycle &amp; runtime changes (2)</vt:lpstr>
      <vt:lpstr>Maven 4 – Workflow, lifecycle &amp; runtime changes (3)</vt:lpstr>
      <vt:lpstr>Maven 4 – Workflow, lifecycle &amp; runtime changes (4)</vt:lpstr>
      <vt:lpstr>Maven 4 – Performance Boosts</vt:lpstr>
      <vt:lpstr>Maven 4 – API changes</vt:lpstr>
      <vt:lpstr>Maven Daemon 2.0.0-rc3</vt:lpstr>
      <vt:lpstr>Java 25 – What’s awesome</vt:lpstr>
      <vt:lpstr>Java 25</vt:lpstr>
      <vt:lpstr>Syntax Sugar (mostly)</vt:lpstr>
      <vt:lpstr>Scoped Values</vt:lpstr>
      <vt:lpstr>Module Import Declarations</vt:lpstr>
      <vt:lpstr>Compact Source Files and Instance Main Methods</vt:lpstr>
      <vt:lpstr>Flexible Constructor Bodies</vt:lpstr>
      <vt:lpstr>Stable Values (Preview)</vt:lpstr>
      <vt:lpstr>Primitive Types in patterns, instanceOf and switch (3d Preview)</vt:lpstr>
      <vt:lpstr>Structured Concurrency(5th Preview)</vt:lpstr>
      <vt:lpstr>Optimizations &amp; Monitoring</vt:lpstr>
      <vt:lpstr>Cryptography and Computations</vt:lpstr>
      <vt:lpstr>Spring 7 – What’s cool</vt:lpstr>
      <vt:lpstr>Spring 7</vt:lpstr>
      <vt:lpstr>References - Maven 4</vt:lpstr>
      <vt:lpstr>References – Java 25</vt:lpstr>
      <vt:lpstr>References – Spring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Iuliana Cosmina</dc:creator>
  <cp:lastModifiedBy>Iuliana Cosmina</cp:lastModifiedBy>
  <cp:revision>8</cp:revision>
  <dcterms:created xsi:type="dcterms:W3CDTF">2025-10-22T19:24:25Z</dcterms:created>
  <dcterms:modified xsi:type="dcterms:W3CDTF">2025-11-26T08:34:21Z</dcterms:modified>
</cp:coreProperties>
</file>