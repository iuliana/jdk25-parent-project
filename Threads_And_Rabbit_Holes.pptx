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notesMasterIdLst>
    <p:notesMasterId r:id="rId18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7" r:id="rId11"/>
    <p:sldId id="265" r:id="rId12"/>
    <p:sldId id="269" r:id="rId13"/>
    <p:sldId id="266" r:id="rId14"/>
    <p:sldId id="270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0"/>
    <p:restoredTop sz="79038"/>
  </p:normalViewPr>
  <p:slideViewPr>
    <p:cSldViewPr snapToGrid="0">
      <p:cViewPr varScale="1">
        <p:scale>
          <a:sx n="97" d="100"/>
          <a:sy n="97" d="100"/>
        </p:scale>
        <p:origin x="15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675FF-BBA5-D345-9663-5CF1931B78FC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98125-CA53-6941-8815-F4CD05BB6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5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found out that you can have a class too big for the compiler to handle…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98125-CA53-6941-8815-F4CD05BB62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6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main method is clearly bigger than that. That is information I never needed, because I am not a psychopath. Also,  I am an adept of hacking my code into pieces that can be read and understood in one glance (sometimes a 30s one, but oh well, what can you do, complex minds can birth complex ideas)</a:t>
            </a:r>
          </a:p>
          <a:p>
            <a:endParaRPr lang="en-US" dirty="0"/>
          </a:p>
          <a:p>
            <a:r>
              <a:rPr lang="en-US" dirty="0"/>
              <a:t>IntelliJ tries to compile the entire project before executing something so yeah … dies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98125-CA53-6941-8815-F4CD05BB62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11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98125-CA53-6941-8815-F4CD05BB62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84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1266-7CC0-4DC1-CE8D-CF550FD6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C94C0-1744-7EF4-6DFA-8E7526F31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6BBB1-AC40-59E5-C66E-15BB71C1D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Would that do it? …  Well, no, the virtual thread stack  is dynamic in size, but probably it is not </a:t>
            </a:r>
            <a:r>
              <a:rPr lang="en-GB" dirty="0" err="1"/>
              <a:t>gonna</a:t>
            </a:r>
            <a:r>
              <a:rPr lang="en-GB" dirty="0"/>
              <a:t>  be smaller than a reference on the stack memory, so you might end up filing your heap, before you fill your stack memory.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4AF09-2113-F94E-25B5-1D2EC8556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98125-CA53-6941-8815-F4CD05BB62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00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chorus of this  presentation? … say it with me guys… It depends.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98125-CA53-6941-8815-F4CD05BB621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6CBD-DFC0-371A-BEC4-304378A9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57530-A474-FCFD-AA3C-699AE01CA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381F0-139E-D495-B825-6C0C4F0B0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chorus of this  presentation? … say it with me guys… It depends.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436F4-A4AE-5EBE-ACC9-8FE3F6F54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298125-CA53-6941-8815-F4CD05BB621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95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7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92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35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83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6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20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80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47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3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64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64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0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86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06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02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60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11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89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09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18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74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58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03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12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72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019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381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1933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545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41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17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33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92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347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977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9917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2830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2862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5574982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6310123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3435001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22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834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22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998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67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855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229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2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10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9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  <p:sldLayoutId id="2147483795" r:id="rId45"/>
    <p:sldLayoutId id="2147483796" r:id="rId46"/>
    <p:sldLayoutId id="2147483797" r:id="rId47"/>
    <p:sldLayoutId id="2147483798" r:id="rId48"/>
    <p:sldLayoutId id="2147483799" r:id="rId49"/>
    <p:sldLayoutId id="2147483800" r:id="rId50"/>
    <p:sldLayoutId id="2147483801" r:id="rId51"/>
    <p:sldLayoutId id="2147483802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4632-A43D-C1A5-9AF6-838AAE0F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/>
          <a:p>
            <a:r>
              <a:rPr lang="en-US"/>
              <a:t>Threads and Rabbit Holes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FF34A-21F6-1F95-6572-6A64AC0D5C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>
            <a:normAutofit/>
          </a:bodyPr>
          <a:lstStyle/>
          <a:p>
            <a:r>
              <a:rPr lang="en-US" dirty="0"/>
              <a:t>Because sometimes you need to go all the way down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5A8AD6B-B55D-FA95-2607-BF1067D06847}"/>
              </a:ext>
            </a:extLst>
          </p:cNvPr>
          <p:cNvSpPr txBox="1">
            <a:spLocks/>
          </p:cNvSpPr>
          <p:nvPr/>
        </p:nvSpPr>
        <p:spPr>
          <a:xfrm>
            <a:off x="8279026" y="6264876"/>
            <a:ext cx="3694671" cy="469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Iuliana Cosmina, January 2026</a:t>
            </a:r>
          </a:p>
        </p:txBody>
      </p:sp>
    </p:spTree>
    <p:extLst>
      <p:ext uri="{BB962C8B-B14F-4D97-AF65-F5344CB8AC3E}">
        <p14:creationId xmlns:p14="http://schemas.microsoft.com/office/powerpoint/2010/main" val="50931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50B8-4E09-3838-B70E-9A8CD6297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83811C-3C70-42B1-C57F-BD4D0887063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0119121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509393" y="1949945"/>
          <a:ext cx="5780977" cy="279630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126895">
                  <a:extLst>
                    <a:ext uri="{9D8B030D-6E8A-4147-A177-3AD203B41FA5}">
                      <a16:colId xmlns:a16="http://schemas.microsoft.com/office/drawing/2014/main" val="3839072612"/>
                    </a:ext>
                  </a:extLst>
                </a:gridCol>
                <a:gridCol w="3654082">
                  <a:extLst>
                    <a:ext uri="{9D8B030D-6E8A-4147-A177-3AD203B41FA5}">
                      <a16:colId xmlns:a16="http://schemas.microsoft.com/office/drawing/2014/main" val="3120132620"/>
                    </a:ext>
                  </a:extLst>
                </a:gridCol>
              </a:tblGrid>
              <a:tr h="699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0" cap="none" spc="0" dirty="0">
                          <a:solidFill>
                            <a:schemeClr val="tx1"/>
                          </a:solidFill>
                        </a:rPr>
                        <a:t>The why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067182"/>
                  </a:ext>
                </a:extLst>
              </a:tr>
              <a:tr h="699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0" cap="none" spc="0" dirty="0">
                          <a:solidFill>
                            <a:schemeClr val="tx1"/>
                          </a:solidFill>
                        </a:rPr>
                        <a:t>The Threads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579386"/>
                  </a:ext>
                </a:extLst>
              </a:tr>
              <a:tr h="699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0" cap="none" spc="0" dirty="0">
                          <a:solidFill>
                            <a:schemeClr val="tx1"/>
                          </a:solidFill>
                        </a:rPr>
                        <a:t>The rabbit hole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716609"/>
                  </a:ext>
                </a:extLst>
              </a:tr>
              <a:tr h="699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0" cap="none" spc="0" dirty="0">
                          <a:solidFill>
                            <a:schemeClr val="tx1"/>
                          </a:solidFill>
                        </a:rPr>
                        <a:t>Conclusions</a:t>
                      </a:r>
                    </a:p>
                  </a:txBody>
                  <a:tcPr marL="120070" marR="120070" marT="120070" marB="1200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09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35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BD73-C30D-CD91-EB14-8DB8BBC65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How did I get Myself into this ?</a:t>
            </a:r>
            <a:br>
              <a:rPr lang="en-GB" sz="3200" dirty="0"/>
            </a:br>
            <a:endParaRPr lang="en-US" sz="3200" dirty="0"/>
          </a:p>
        </p:txBody>
      </p:sp>
      <p:pic>
        <p:nvPicPr>
          <p:cNvPr id="10" name="Content Placeholder 9" descr="A person holding a computer&#10;&#10;AI-generated content may be incorrect.">
            <a:extLst>
              <a:ext uri="{FF2B5EF4-FFF2-40B4-BE49-F238E27FC236}">
                <a16:creationId xmlns:a16="http://schemas.microsoft.com/office/drawing/2014/main" id="{8C81EDC8-E063-1A4E-F49E-F2D6E74E86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75228" y="1103215"/>
            <a:ext cx="7626221" cy="5082876"/>
          </a:xfrm>
        </p:spPr>
      </p:pic>
    </p:spTree>
    <p:extLst>
      <p:ext uri="{BB962C8B-B14F-4D97-AF65-F5344CB8AC3E}">
        <p14:creationId xmlns:p14="http://schemas.microsoft.com/office/powerpoint/2010/main" val="410777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29BFD-43FA-D0EA-A9EB-16D20C2D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302B-CF3F-19B6-4F7E-D523110F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The why</a:t>
            </a:r>
            <a:br>
              <a:rPr lang="en-GB" sz="3200" dirty="0"/>
            </a:br>
            <a:endParaRPr lang="en-US" sz="3200" dirty="0"/>
          </a:p>
        </p:txBody>
      </p:sp>
      <p:pic>
        <p:nvPicPr>
          <p:cNvPr id="5" name="Content Placeholder 4" descr="A close-up of a sugar cube&#10;&#10;AI-generated content may be incorrect.">
            <a:extLst>
              <a:ext uri="{FF2B5EF4-FFF2-40B4-BE49-F238E27FC236}">
                <a16:creationId xmlns:a16="http://schemas.microsoft.com/office/drawing/2014/main" id="{A6B085E5-4D92-19CF-AD51-D389084BD2E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08595" y="1102146"/>
            <a:ext cx="8990313" cy="465370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E0FC31C-DBFA-E8CB-66B8-251991FF1E73}"/>
              </a:ext>
            </a:extLst>
          </p:cNvPr>
          <p:cNvSpPr/>
          <p:nvPr/>
        </p:nvSpPr>
        <p:spPr>
          <a:xfrm>
            <a:off x="598530" y="2471351"/>
            <a:ext cx="5332713" cy="911995"/>
          </a:xfrm>
          <a:prstGeom prst="ellipse">
            <a:avLst/>
          </a:prstGeom>
          <a:solidFill>
            <a:srgbClr val="FF0000">
              <a:alpha val="25583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0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80AAD6-BC2A-BCDA-8707-2C60182D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…The why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D7493-2C38-D22D-8AAE-9077EBE91C9C}"/>
              </a:ext>
            </a:extLst>
          </p:cNvPr>
          <p:cNvSpPr txBox="1"/>
          <p:nvPr/>
        </p:nvSpPr>
        <p:spPr>
          <a:xfrm>
            <a:off x="642551" y="1594021"/>
            <a:ext cx="102313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explain Scoped Variables I needed to explain 3 things</a:t>
            </a:r>
          </a:p>
          <a:p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Platform Threads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Virtual Threads (also Structured Concurrency)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Thread Local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479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3540-E0C6-B5A1-1A14-3EACB47E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8D3CBB-869D-4D7D-CA84-9E2D3E03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The threads</a:t>
            </a:r>
            <a:br>
              <a:rPr lang="en-GB" sz="3200" dirty="0"/>
            </a:br>
            <a:endParaRPr lang="en-US" sz="3200" dirty="0"/>
          </a:p>
        </p:txBody>
      </p:sp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58DEF897-6B9D-64FD-733C-1E8F2B620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67477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3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B6D6-4603-4A39-6D29-B9744E56D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36AD34-A9AF-6F24-DF0D-3473FCE4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The Rabbit Hole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67E8B-1C88-9555-1105-1A027A1ABDB4}"/>
              </a:ext>
            </a:extLst>
          </p:cNvPr>
          <p:cNvSpPr txBox="1"/>
          <p:nvPr/>
        </p:nvSpPr>
        <p:spPr>
          <a:xfrm>
            <a:off x="642551" y="1594021"/>
            <a:ext cx="102313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years ago, Alex asked – How many Virtual threads can you have in  a Java application?</a:t>
            </a:r>
          </a:p>
          <a:p>
            <a:r>
              <a:rPr lang="en-US" sz="2400" dirty="0"/>
              <a:t> </a:t>
            </a:r>
          </a:p>
          <a:p>
            <a:endParaRPr lang="en-US" sz="2400" dirty="0"/>
          </a:p>
        </p:txBody>
      </p:sp>
      <p:pic>
        <p:nvPicPr>
          <p:cNvPr id="3" name="Picture 2" descr="Cartoon character of a cartoon&#10;&#10;AI-generated content may be incorrect.">
            <a:extLst>
              <a:ext uri="{FF2B5EF4-FFF2-40B4-BE49-F238E27FC236}">
                <a16:creationId xmlns:a16="http://schemas.microsoft.com/office/drawing/2014/main" id="{411600BB-8B00-37A7-3766-8BCC1140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885" y="2496065"/>
            <a:ext cx="6314564" cy="422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5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5C9A-8538-6D87-61F6-B5A95C6B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8E2640-2089-4FA1-F4A1-A1413633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…Down  the Rabbit hole I go….</a:t>
            </a:r>
            <a:br>
              <a:rPr lang="en-GB" sz="3200" dirty="0"/>
            </a:br>
            <a:endParaRPr lang="en-US" sz="3200" dirty="0"/>
          </a:p>
        </p:txBody>
      </p:sp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DC4279E-419B-45C9-8FF6-206CE6441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36650"/>
            <a:ext cx="7175500" cy="4584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1ADA5C-7EBD-924D-6E5E-560F418E310C}"/>
              </a:ext>
            </a:extLst>
          </p:cNvPr>
          <p:cNvSpPr txBox="1"/>
          <p:nvPr/>
        </p:nvSpPr>
        <p:spPr>
          <a:xfrm>
            <a:off x="7982465" y="867477"/>
            <a:ext cx="395416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Stack Size</a:t>
            </a:r>
          </a:p>
          <a:p>
            <a:endParaRPr lang="en-US" b="1" dirty="0"/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java -XX:+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PrintFlagsFinal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-version | grep -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threadstack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&gt; </a:t>
            </a:r>
            <a:r>
              <a:rPr lang="en-US" b="1" dirty="0" err="1">
                <a:solidFill>
                  <a:srgbClr val="FF0000"/>
                </a:solidFill>
              </a:rPr>
              <a:t>ThreadStackSize</a:t>
            </a:r>
            <a:r>
              <a:rPr lang="en-US" b="1" dirty="0">
                <a:solidFill>
                  <a:srgbClr val="FF0000"/>
                </a:solidFill>
              </a:rPr>
              <a:t>   = 2048 KB = 2  MB</a:t>
            </a:r>
          </a:p>
          <a:p>
            <a:endParaRPr lang="en-US" dirty="0"/>
          </a:p>
          <a:p>
            <a:r>
              <a:rPr lang="en-US" b="1" dirty="0"/>
              <a:t>Heap Size</a:t>
            </a:r>
          </a:p>
          <a:p>
            <a:endParaRPr lang="en-US" b="1" dirty="0"/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-XX:+PrintCommandLineFlags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GB" dirty="0">
                <a:solidFill>
                  <a:srgbClr val="FF0000"/>
                </a:solidFill>
              </a:rPr>
              <a:t>&gt; </a:t>
            </a:r>
            <a:r>
              <a:rPr lang="en-GB" dirty="0" err="1">
                <a:solidFill>
                  <a:srgbClr val="FF0000"/>
                </a:solidFill>
              </a:rPr>
              <a:t>InitialHeapSize</a:t>
            </a:r>
            <a:r>
              <a:rPr lang="en-GB" dirty="0">
                <a:solidFill>
                  <a:srgbClr val="FF0000"/>
                </a:solidFill>
              </a:rPr>
              <a:t>=603979776 </a:t>
            </a:r>
            <a:r>
              <a:rPr lang="en-GB" b="1" dirty="0">
                <a:solidFill>
                  <a:srgbClr val="FF0000"/>
                </a:solidFill>
              </a:rPr>
              <a:t>~576 MB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&gt; </a:t>
            </a:r>
            <a:r>
              <a:rPr lang="en-GB" dirty="0" err="1">
                <a:solidFill>
                  <a:srgbClr val="FF0000"/>
                </a:solidFill>
              </a:rPr>
              <a:t>MaxHeapSize</a:t>
            </a:r>
            <a:r>
              <a:rPr lang="en-GB" dirty="0">
                <a:solidFill>
                  <a:srgbClr val="FF0000"/>
                </a:solidFill>
              </a:rPr>
              <a:t>=9663676416 ~</a:t>
            </a:r>
            <a:r>
              <a:rPr lang="en-GB" b="1" dirty="0">
                <a:solidFill>
                  <a:srgbClr val="FF0000"/>
                </a:solidFill>
              </a:rPr>
              <a:t> 9216MB = 9 GB</a:t>
            </a:r>
          </a:p>
          <a:p>
            <a:endParaRPr lang="en-GB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1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FFBA-2D7E-7A36-7823-3E60490F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E78B67-3925-F421-F2C4-9872B644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…And I go….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F4E47-B22C-DC07-F60A-A591DB04585B}"/>
              </a:ext>
            </a:extLst>
          </p:cNvPr>
          <p:cNvSpPr txBox="1"/>
          <p:nvPr/>
        </p:nvSpPr>
        <p:spPr>
          <a:xfrm>
            <a:off x="543697" y="842763"/>
            <a:ext cx="113929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Based on thread stack size of 2MB</a:t>
            </a:r>
          </a:p>
          <a:p>
            <a:endParaRPr lang="en-GB" dirty="0"/>
          </a:p>
          <a:p>
            <a:r>
              <a:rPr lang="en-GB" dirty="0"/>
              <a:t>- Assuming the </a:t>
            </a:r>
            <a:r>
              <a:rPr lang="en-GB" dirty="0" err="1"/>
              <a:t>Vts</a:t>
            </a:r>
            <a:r>
              <a:rPr lang="en-GB" dirty="0"/>
              <a:t> executions won’t finish instantly, and the GC does not get them, references are implemented as pointers, so  8 bytes per Vt =&gt; </a:t>
            </a:r>
          </a:p>
          <a:p>
            <a:endParaRPr lang="en-GB" dirty="0"/>
          </a:p>
          <a:p>
            <a:r>
              <a:rPr lang="en-GB" dirty="0"/>
              <a:t>2048 KB = 2048 * 1024 B = 2097152B =&gt;  ~</a:t>
            </a:r>
            <a:r>
              <a:rPr lang="en-GB" b="1" dirty="0"/>
              <a:t>262144</a:t>
            </a:r>
            <a:r>
              <a:rPr lang="en-GB" dirty="0"/>
              <a:t> Vt references before </a:t>
            </a:r>
            <a:r>
              <a:rPr lang="en-GB" dirty="0" err="1"/>
              <a:t>StackOverflowError</a:t>
            </a:r>
            <a:r>
              <a:rPr lang="en-GB" dirty="0"/>
              <a:t> is thrown.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But wait… do I have </a:t>
            </a:r>
            <a:r>
              <a:rPr lang="en-GB" dirty="0" err="1"/>
              <a:t>CompressedOops</a:t>
            </a:r>
            <a:r>
              <a:rPr lang="en-GB" dirty="0"/>
              <a:t> enabled?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&gt; java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StackOverflow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verbose:gc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Xlog:gc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</a:p>
          <a:p>
            <a:r>
              <a:rPr lang="en-GB" dirty="0"/>
              <a:t>&gt; </a:t>
            </a:r>
            <a:r>
              <a:rPr lang="en-GB" b="1" dirty="0">
                <a:solidFill>
                  <a:srgbClr val="FF0000"/>
                </a:solidFill>
              </a:rPr>
              <a:t>[0.004s][info][</a:t>
            </a:r>
            <a:r>
              <a:rPr lang="en-GB" b="1" dirty="0" err="1">
                <a:solidFill>
                  <a:srgbClr val="FF0000"/>
                </a:solidFill>
              </a:rPr>
              <a:t>gc,init</a:t>
            </a:r>
            <a:r>
              <a:rPr lang="en-GB" b="1" dirty="0">
                <a:solidFill>
                  <a:srgbClr val="FF0000"/>
                </a:solidFill>
              </a:rPr>
              <a:t>] </a:t>
            </a:r>
            <a:r>
              <a:rPr lang="en-GB" b="1" u="sng" dirty="0">
                <a:solidFill>
                  <a:srgbClr val="FF0000"/>
                </a:solidFill>
              </a:rPr>
              <a:t>Compressed Oops: Enabled</a:t>
            </a:r>
            <a:r>
              <a:rPr lang="en-GB" b="1" dirty="0">
                <a:solidFill>
                  <a:srgbClr val="FF0000"/>
                </a:solidFill>
              </a:rPr>
              <a:t> (Zero based)</a:t>
            </a:r>
          </a:p>
          <a:p>
            <a:endParaRPr lang="en-GB" dirty="0"/>
          </a:p>
          <a:p>
            <a:r>
              <a:rPr lang="en-GB" dirty="0"/>
              <a:t>This means references can be 4 bytes… </a:t>
            </a:r>
          </a:p>
          <a:p>
            <a:endParaRPr lang="en-GB" dirty="0"/>
          </a:p>
          <a:p>
            <a:r>
              <a:rPr lang="en-GB" dirty="0"/>
              <a:t>2048 KB = 2048 * 1024 B = 2097152B </a:t>
            </a:r>
            <a:r>
              <a:rPr lang="en-GB" b="1" dirty="0"/>
              <a:t>=&gt; ~524288 </a:t>
            </a:r>
            <a:r>
              <a:rPr lang="en-GB" dirty="0"/>
              <a:t>Vt references before </a:t>
            </a:r>
            <a:r>
              <a:rPr lang="en-GB" dirty="0" err="1"/>
              <a:t>StackOverflowError</a:t>
            </a:r>
            <a:r>
              <a:rPr lang="en-GB" dirty="0"/>
              <a:t> is thrown.</a:t>
            </a:r>
            <a:endParaRPr lang="en-GB" b="1" dirty="0"/>
          </a:p>
          <a:p>
            <a:endParaRPr lang="en-GB" dirty="0"/>
          </a:p>
          <a:p>
            <a:r>
              <a:rPr lang="en-US" dirty="0"/>
              <a:t>What this means is that in my main method I had to declare </a:t>
            </a:r>
            <a:r>
              <a:rPr lang="en-GB" b="1" dirty="0"/>
              <a:t>524288 variables.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150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6DCE-410D-E5C3-A1DB-DEB9349D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68F9DD-31D8-6092-2BA8-4C3205CE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…And I go DEEPER….</a:t>
            </a:r>
            <a:br>
              <a:rPr lang="en-GB" sz="3200" dirty="0"/>
            </a:br>
            <a:endParaRPr lang="en-US" sz="3200" dirty="0"/>
          </a:p>
        </p:txBody>
      </p:sp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D2683FEC-2396-0109-D7E2-F188EBD8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732" y="1861820"/>
            <a:ext cx="7175500" cy="4584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324406-759F-6410-82B9-ADBA8B497D18}"/>
              </a:ext>
            </a:extLst>
          </p:cNvPr>
          <p:cNvSpPr txBox="1"/>
          <p:nvPr/>
        </p:nvSpPr>
        <p:spPr>
          <a:xfrm>
            <a:off x="429768" y="1323473"/>
            <a:ext cx="328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No, I cannot put those references in a List, and this I why.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7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1AAD-08D5-04CA-9801-827F4811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5A8B71-7448-5DE2-F18A-4ED7E9DF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 And Deeper ….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E3ABA-A2F1-7AB9-9D9F-A7F8B03FA56B}"/>
              </a:ext>
            </a:extLst>
          </p:cNvPr>
          <p:cNvSpPr txBox="1"/>
          <p:nvPr/>
        </p:nvSpPr>
        <p:spPr>
          <a:xfrm>
            <a:off x="429768" y="1556951"/>
            <a:ext cx="23628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So, I wrote some code to generate this humongous class, I tried to run It and…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676F34-A994-A5B7-611F-C14E7488A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50" y="933450"/>
            <a:ext cx="6311900" cy="49911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650E17C-C0C6-AB7B-6A59-A3D73C42AC15}"/>
              </a:ext>
            </a:extLst>
          </p:cNvPr>
          <p:cNvSpPr/>
          <p:nvPr/>
        </p:nvSpPr>
        <p:spPr>
          <a:xfrm>
            <a:off x="5395784" y="4207834"/>
            <a:ext cx="4003589" cy="911995"/>
          </a:xfrm>
          <a:prstGeom prst="ellipse">
            <a:avLst/>
          </a:prstGeom>
          <a:solidFill>
            <a:srgbClr val="FF0000">
              <a:alpha val="25583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9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E8C3-C582-8B1E-2233-F5EACF14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515A88-717B-75D8-3DBB-3CF290C2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 And </a:t>
            </a:r>
            <a:r>
              <a:rPr lang="en-GB" sz="3200" dirty="0" err="1"/>
              <a:t>bOOM</a:t>
            </a:r>
            <a:r>
              <a:rPr lang="en-GB" sz="3200" dirty="0"/>
              <a:t> ….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CAF4B-ECEC-1355-E0C2-65A461A6C71C}"/>
              </a:ext>
            </a:extLst>
          </p:cNvPr>
          <p:cNvSpPr txBox="1"/>
          <p:nvPr/>
        </p:nvSpPr>
        <p:spPr>
          <a:xfrm>
            <a:off x="429768" y="1581014"/>
            <a:ext cx="23628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So, I wrote some code to generate this humongous class, I tried to run it … and I annoyed my IntelliJ.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Apparently… a java method must not exceed </a:t>
            </a:r>
            <a:r>
              <a:rPr lang="en-US" b="1" dirty="0"/>
              <a:t>65535B = 64MB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A4CDD1-6411-D0BB-6969-B4F7F2AC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627" y="1038574"/>
            <a:ext cx="9088056" cy="522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8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61E24-775F-0BDE-E10F-7D580FEE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FE6180-D3B8-E957-0F9C-BF9ADF17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…So, this is Where I stopped ….</a:t>
            </a:r>
            <a:br>
              <a:rPr lang="en-GB" sz="3200" dirty="0"/>
            </a:br>
            <a:endParaRPr lang="en-US" sz="3200" dirty="0"/>
          </a:p>
        </p:txBody>
      </p:sp>
      <p:pic>
        <p:nvPicPr>
          <p:cNvPr id="8" name="Picture 7" descr="Cartoon characters of a group of people&#10;&#10;AI-generated content may be incorrect.">
            <a:extLst>
              <a:ext uri="{FF2B5EF4-FFF2-40B4-BE49-F238E27FC236}">
                <a16:creationId xmlns:a16="http://schemas.microsoft.com/office/drawing/2014/main" id="{2B088724-BCBD-A98F-3511-8D84753FE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34" y="1849821"/>
            <a:ext cx="5775214" cy="42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1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D474-6296-8C3B-9CAF-FD8320C1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2EEA7C-D8A5-E7B1-4944-59A5B0F3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</a:t>
            </a:r>
            <a:r>
              <a:rPr lang="en-GB" sz="3200" dirty="0" err="1"/>
              <a:t>BuT</a:t>
            </a:r>
            <a:r>
              <a:rPr lang="en-GB" sz="3200" dirty="0"/>
              <a:t> I go DEEPER….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02C33-2100-0BB0-7085-F560A06ADB58}"/>
              </a:ext>
            </a:extLst>
          </p:cNvPr>
          <p:cNvSpPr txBox="1"/>
          <p:nvPr/>
        </p:nvSpPr>
        <p:spPr>
          <a:xfrm>
            <a:off x="543697" y="842763"/>
            <a:ext cx="113929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I could make my </a:t>
            </a:r>
            <a:r>
              <a:rPr lang="en-GB" dirty="0" err="1"/>
              <a:t>StackOverflow</a:t>
            </a:r>
            <a:r>
              <a:rPr lang="en-GB" dirty="0"/>
              <a:t> implementation recursive, write a method to create a Vt, slap a local variable on it, and invoke itself. </a:t>
            </a:r>
          </a:p>
          <a:p>
            <a:endParaRPr lang="en-GB" dirty="0"/>
          </a:p>
          <a:p>
            <a:r>
              <a:rPr lang="en-GB" dirty="0"/>
              <a:t>Would that do it? …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solidFill>
                  <a:schemeClr val="accent1"/>
                </a:solidFill>
              </a:rPr>
              <a:t>BUUUUUUUUUUT …</a:t>
            </a:r>
          </a:p>
          <a:p>
            <a:r>
              <a:rPr lang="en-GB" dirty="0"/>
              <a:t>	</a:t>
            </a:r>
          </a:p>
          <a:p>
            <a:r>
              <a:rPr lang="en-GB" dirty="0"/>
              <a:t>	Vt Scaffolding –  the virtual thread stack  –  does not have a fixed size, but … </a:t>
            </a:r>
          </a:p>
          <a:p>
            <a:r>
              <a:rPr lang="en-GB" dirty="0"/>
              <a:t>	We know that to execute a Vt its thread stack gets copied onto the platform thread, so technically, if I were to devise a Runnable implementation that when instantiated is </a:t>
            </a:r>
            <a:r>
              <a:rPr lang="en-GB" b="1" u="sng" dirty="0"/>
              <a:t>exactly</a:t>
            </a:r>
            <a:r>
              <a:rPr lang="en-GB" dirty="0"/>
              <a:t> 2MB in size</a:t>
            </a:r>
          </a:p>
          <a:p>
            <a:endParaRPr lang="en-GB" dirty="0"/>
          </a:p>
          <a:p>
            <a:r>
              <a:rPr lang="en-GB" dirty="0"/>
              <a:t>This means I could fit in my heap 9216 /2 = ~</a:t>
            </a:r>
            <a:r>
              <a:rPr lang="en-GB" b="1" dirty="0"/>
              <a:t>4608 </a:t>
            </a:r>
            <a:r>
              <a:rPr lang="en-GB" b="1" dirty="0" err="1"/>
              <a:t>Vts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But with a minimal Runnable (</a:t>
            </a:r>
            <a:r>
              <a:rPr lang="en-US" dirty="0" err="1"/>
              <a:t>Thread.sleep</a:t>
            </a:r>
            <a:r>
              <a:rPr lang="en-US" dirty="0"/>
              <a:t>()) - on my mac – 36GB , 14Cores -- I was able to run around 100_000_000 before </a:t>
            </a:r>
            <a:r>
              <a:rPr lang="en-US" dirty="0" err="1"/>
              <a:t>OutOfMEmeoryError</a:t>
            </a:r>
            <a:r>
              <a:rPr lang="en-US" dirty="0"/>
              <a:t> appeared.</a:t>
            </a:r>
          </a:p>
          <a:p>
            <a:endParaRPr lang="en-US" dirty="0"/>
          </a:p>
          <a:p>
            <a:r>
              <a:rPr lang="en-US" dirty="0"/>
              <a:t>And this is where I stopped…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2F074-478C-4AAB-9F94-91E462310FB9}"/>
              </a:ext>
            </a:extLst>
          </p:cNvPr>
          <p:cNvSpPr txBox="1"/>
          <p:nvPr/>
        </p:nvSpPr>
        <p:spPr>
          <a:xfrm>
            <a:off x="2806262" y="1954924"/>
            <a:ext cx="1460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32190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DBAA-3E4C-9B5B-F087-6A5AB80E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403047-00BF-FA63-2456-197A5F5D0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11994"/>
          </a:xfrm>
        </p:spPr>
        <p:txBody>
          <a:bodyPr>
            <a:normAutofit fontScale="90000"/>
          </a:bodyPr>
          <a:lstStyle/>
          <a:p>
            <a:pPr fontAlgn="ctr"/>
            <a:r>
              <a:rPr lang="en-GB" sz="3200" dirty="0"/>
              <a:t>…Conclusion….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C20790-19B3-2481-7ECB-09E9DDD18362}"/>
              </a:ext>
            </a:extLst>
          </p:cNvPr>
          <p:cNvSpPr txBox="1"/>
          <p:nvPr/>
        </p:nvSpPr>
        <p:spPr>
          <a:xfrm>
            <a:off x="543697" y="689255"/>
            <a:ext cx="11392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How many Virtual threads can you run in a Java application ?</a:t>
            </a:r>
          </a:p>
        </p:txBody>
      </p:sp>
      <p:pic>
        <p:nvPicPr>
          <p:cNvPr id="2" name="Picture 1" descr="Cartoon character of a cartoon&#10;&#10;AI-generated content may be incorrect.">
            <a:extLst>
              <a:ext uri="{FF2B5EF4-FFF2-40B4-BE49-F238E27FC236}">
                <a16:creationId xmlns:a16="http://schemas.microsoft.com/office/drawing/2014/main" id="{14BEB1D6-D309-566D-998B-C237A3114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46" y="1601249"/>
            <a:ext cx="5805006" cy="3885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F273D0-77F6-226A-BB84-888DB13EB738}"/>
              </a:ext>
            </a:extLst>
          </p:cNvPr>
          <p:cNvSpPr txBox="1"/>
          <p:nvPr/>
        </p:nvSpPr>
        <p:spPr>
          <a:xfrm>
            <a:off x="610146" y="5615523"/>
            <a:ext cx="10672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 your hardware, your code and VM configurations. Still A LOT more than platform threads though.</a:t>
            </a:r>
          </a:p>
        </p:txBody>
      </p:sp>
    </p:spTree>
    <p:extLst>
      <p:ext uri="{BB962C8B-B14F-4D97-AF65-F5344CB8AC3E}">
        <p14:creationId xmlns:p14="http://schemas.microsoft.com/office/powerpoint/2010/main" val="378486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DB2F-EF59-39B9-201F-9D61AA7D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DBD582-BCB5-0A67-63AC-E417DF95A46E}"/>
              </a:ext>
            </a:extLst>
          </p:cNvPr>
          <p:cNvSpPr txBox="1"/>
          <p:nvPr/>
        </p:nvSpPr>
        <p:spPr>
          <a:xfrm>
            <a:off x="610146" y="5615523"/>
            <a:ext cx="10672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</p:txBody>
      </p:sp>
      <p:pic>
        <p:nvPicPr>
          <p:cNvPr id="6" name="Picture 5" descr="A question mark drawn on a black background&#10;&#10;AI-generated content may be incorrect.">
            <a:extLst>
              <a:ext uri="{FF2B5EF4-FFF2-40B4-BE49-F238E27FC236}">
                <a16:creationId xmlns:a16="http://schemas.microsoft.com/office/drawing/2014/main" id="{E775EE1B-8FA6-29C2-A6BB-108E16FF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74" y="1669773"/>
            <a:ext cx="3552687" cy="35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7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774</Words>
  <Application>Microsoft Macintosh PowerPoint</Application>
  <PresentationFormat>Widescreen</PresentationFormat>
  <Paragraphs>102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Consolas</vt:lpstr>
      <vt:lpstr>Neue Haas Grotesk Text Pro</vt:lpstr>
      <vt:lpstr>Oasis</vt:lpstr>
      <vt:lpstr>Threads and Rabbit Holes</vt:lpstr>
      <vt:lpstr>Agenda</vt:lpstr>
      <vt:lpstr>How did I get Myself into this ? </vt:lpstr>
      <vt:lpstr>The why </vt:lpstr>
      <vt:lpstr>…The why </vt:lpstr>
      <vt:lpstr>The threads </vt:lpstr>
      <vt:lpstr>The Rabbit Hole </vt:lpstr>
      <vt:lpstr>…Down  the Rabbit hole I go…. </vt:lpstr>
      <vt:lpstr>…And I go…. </vt:lpstr>
      <vt:lpstr>…And I go DEEPER…. </vt:lpstr>
      <vt:lpstr>… And Deeper …. </vt:lpstr>
      <vt:lpstr>… And bOOM …. </vt:lpstr>
      <vt:lpstr>…So, this is Where I stopped …. </vt:lpstr>
      <vt:lpstr>…BuT I go DEEPER…. </vt:lpstr>
      <vt:lpstr>…Conclusion….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Iuliana Cosmina</dc:creator>
  <cp:lastModifiedBy>Iuliana Cosmina</cp:lastModifiedBy>
  <cp:revision>6</cp:revision>
  <dcterms:created xsi:type="dcterms:W3CDTF">2026-01-05T21:53:08Z</dcterms:created>
  <dcterms:modified xsi:type="dcterms:W3CDTF">2026-01-06T20:48:54Z</dcterms:modified>
</cp:coreProperties>
</file>